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万元</c:v>
                </c:pt>
              </c:strCache>
            </c:strRef>
          </c:tx>
          <c:spPr>
            <a:solidFill>
              <a:srgbClr val="C81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2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直接损失：无效数据采购款</c:v>
                  </c:pt>
                  <c:pt idx="1">
                    <c:v>间接损失：训练算力与工程回查（下限，按直接损失 50% 估）</c:v>
                  </c:pt>
                  <c:pt idx="2">
                    <c:v>验收费（目标：采购额 6%）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112.5</c:v>
                </c:pt>
                <c:pt idx="1">
                  <c:v>56.25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B1F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秒开场：数采中心卖数据，整机厂和大脑公司买数据，但中间没有验收环节。我们做第三方验收：逐条裁决、拒收附依据、签名验收单双方可复验。原型已经跑通，第 5 页是实测。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具身数据，</a:t>
            </a:r>
            <a:endParaRPr lang="en-US" sz="4000" dirty="0"/>
          </a:p>
          <a:p>
            <a:pPr algn="l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先验货，再付款。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具身智能数据采购的第三方验收：一批数据进来，逐条裁决出去，附一张买卖双方都能离线复验的签名验收单。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651760" cy="329184"/>
          </a:xfrm>
          <a:prstGeom prst="roundRect">
            <a:avLst>
              <a:gd name="adj" fmla="val 13888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160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内部原型已跑通 · 见第 5 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0" y="1234440"/>
            <a:ext cx="4069080" cy="2377440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8" name="Image 0" descr="/tmp/claude-0/-home-user-ipython/dfd014c8-a0a0-5393-8a9f-8ba86b471611/scratchpad/src/media_cn/cov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55648"/>
            <a:ext cx="3794760" cy="13350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23444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1234440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57432" y="123444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58600" y="1234440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3410712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361188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57432" y="361188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58600" y="3410712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36758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公司实测样本 429：点云与三维标注框（真实数据）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9834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条真实轨迹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641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原型已在 DROID 等 3 个公开真实数据集上跑通，发现卡死、越限与字段说明错误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3756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37560" y="49834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 · 离线可验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3337560" y="5641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Ed25519 签名验收单；改任一条目字段或计数即验签失败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2648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0" y="49834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万条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5641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实测三维几何数据包（桌面物体扫描），原型的几何来源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91540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15400" y="49834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ISO/IEC 21838-4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8915400" y="5641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创始人为顶层本体 TUpper 标准核心贡献者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数采中心在「露馅」：买方花钱，却没有一张验收单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具身数据已经在大规模买卖，但交易里缺了最基本的一环——验货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84832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卖方：数采中心 · 数采工厂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50592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 64 座数采中心 / 训练场，覆盖 27 城；真机数据报价 500–1,000 元 / 小时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351215" y="1920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52383" y="2084832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买方：整机厂 · 具身大脑公司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52383" y="2450592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按小时付费，入库后靠人工抽检；训练失败后才回头查数据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1920240"/>
            <a:ext cx="4053535" cy="1417320"/>
          </a:xfrm>
          <a:prstGeom prst="roundRect">
            <a:avLst>
              <a:gd name="adj" fmla="val 5161"/>
            </a:avLst>
          </a:prstGeom>
          <a:solidFill>
            <a:srgbClr val="FBE7EC"/>
          </a:solidFill>
          <a:ln w="12700">
            <a:solidFill>
              <a:srgbClr val="C8123F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251960" y="2084832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缺失的一环：验收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468880"/>
            <a:ext cx="3687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没有逐条裁决 · 没有拒收依据 · 没有双方都认的记录</a:t>
            </a:r>
            <a:endParaRPr lang="en-US" sz="1050" dirty="0"/>
          </a:p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卖方只能自证，买方不信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58768" y="2633472"/>
            <a:ext cx="182880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40903" y="2633472"/>
            <a:ext cx="182880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" y="370332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座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342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数采中心 / 训练场，覆盖 27 城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70332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500–1,000 元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43342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真机数据每小时市场报价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70332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2026-09-20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3342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虎嗅：数采中心「开始批量露馅」，数据无效、无人买单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3703320"/>
            <a:ext cx="2651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项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43342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现行标准中规定了「证据格式」的数量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48072"/>
            <a:ext cx="106920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标准只规定了「好数据长什么样」，没有规定「怎么证明」：信通院《具身智能数据集质量要求及评价方法》（2026-11-01 实施）给出八维质量指标，GB/Z 218.1—2026 是指导性技术文件，二者都没有规定逐条可校验的证据格式。公开检索未见中立方出具可离线复验的逐条验收记录。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来源：澎湃新闻（2026）；虎嗅《遍地开花的数采中心，开始批量露馅》（2026-09-20）；21 财经（2026-08-05）；全国标准信息公共服务平台。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一个数据采购负责人的一天：今天 vs 有验收单之后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情景示意：某具身大脑公司采购一批 5,000 条厨房操作数据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有验收单之后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042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2194560"/>
            <a:ext cx="4754880" cy="603504"/>
          </a:xfrm>
          <a:prstGeom prst="roundRect">
            <a:avLst>
              <a:gd name="adj" fmla="val 909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57400" y="22402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硬盘 / 网盘到货，格式各异，先花两天转格式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3408" y="2496312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2194560"/>
            <a:ext cx="4782312" cy="603504"/>
          </a:xfrm>
          <a:prstGeom prst="roundRect">
            <a:avLst>
              <a:gd name="adj" fmla="val 9091"/>
            </a:avLst>
          </a:prstGeom>
          <a:solidFill>
            <a:srgbClr val="E1F3F3"/>
          </a:solidFill>
          <a:ln w="12700">
            <a:solidFill>
              <a:srgbClr val="E1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224028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原型已原生读取 RLDS 并转为 LeRobot 格式（MCAP 规划中），当天出逐条裁决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20240" y="2926080"/>
            <a:ext cx="4754880" cy="603504"/>
          </a:xfrm>
          <a:prstGeom prst="roundRect">
            <a:avLst>
              <a:gd name="adj" fmla="val 909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57400" y="29718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人工抽检一小部分，看视频、凭经验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93408" y="3227832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0" y="2926080"/>
            <a:ext cx="4782312" cy="603504"/>
          </a:xfrm>
          <a:prstGeom prst="roundRect">
            <a:avLst>
              <a:gd name="adj" fmla="val 9091"/>
            </a:avLst>
          </a:prstGeom>
          <a:solidFill>
            <a:srgbClr val="E1F3F3"/>
          </a:solidFill>
          <a:ln w="12700">
            <a:solidFill>
              <a:srgbClr val="E1F3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297180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逐条检查：结构、运动学、语义逻辑三层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384048" cy="384048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7673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20240" y="3657600"/>
            <a:ext cx="4754880" cy="603504"/>
          </a:xfrm>
          <a:prstGeom prst="roundRect">
            <a:avLst>
              <a:gd name="adj" fmla="val 909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57400" y="37033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按合同小时数全额付款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93408" y="3959352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58000" y="3657600"/>
            <a:ext cx="4782312" cy="603504"/>
          </a:xfrm>
          <a:prstGeom prst="roundRect">
            <a:avLst>
              <a:gd name="adj" fmla="val 9091"/>
            </a:avLst>
          </a:prstGeom>
          <a:solidFill>
            <a:srgbClr val="E1F3F3"/>
          </a:solidFill>
          <a:ln w="12700">
            <a:solidFill>
              <a:srgbClr val="E1F3F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95160" y="370332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按「通过」条数付款；拒收条目附依据，退回补采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4988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920240" y="4389120"/>
            <a:ext cx="4754880" cy="603504"/>
          </a:xfrm>
          <a:prstGeom prst="roundRect">
            <a:avLst>
              <a:gd name="adj" fmla="val 909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057400" y="44348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成功率不稳定，不知道是模型问题还是数据问题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93408" y="4690872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858000" y="4389120"/>
            <a:ext cx="4782312" cy="603504"/>
          </a:xfrm>
          <a:prstGeom prst="roundRect">
            <a:avLst>
              <a:gd name="adj" fmla="val 9091"/>
            </a:avLst>
          </a:prstGeom>
          <a:solidFill>
            <a:srgbClr val="E1F3F3"/>
          </a:solidFill>
          <a:ln w="12700">
            <a:solidFill>
              <a:srgbClr val="E1F3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95160" y="443484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训练集只含通过条目；有效失败单独保留、单独标注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230368"/>
            <a:ext cx="384048" cy="384048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230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回查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920240" y="5120640"/>
            <a:ext cx="4754880" cy="603504"/>
          </a:xfrm>
          <a:prstGeom prst="roundRect">
            <a:avLst>
              <a:gd name="adj" fmla="val 909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057400" y="51663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两周翻日志，和供应商扯皮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93408" y="5422392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858000" y="5120640"/>
            <a:ext cx="4782312" cy="603504"/>
          </a:xfrm>
          <a:prstGeom prst="roundRect">
            <a:avLst>
              <a:gd name="adj" fmla="val 9091"/>
            </a:avLst>
          </a:prstGeom>
          <a:solidFill>
            <a:srgbClr val="E1F3F3"/>
          </a:solidFill>
          <a:ln w="12700">
            <a:solidFill>
              <a:srgbClr val="E1F3F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95160" y="516636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从验收单直接定位到帧、规则与批次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情景示意，非客户引语；流程依据对数采与训练流程的公开报道整理。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一批数据进，一张验收单出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三层检查逐条执行，每条得到通过 / 修复 / 拒收 / 未知，附定位到帧与规则的依据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48256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258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时间戳单调、丢帧、NaN、关节限位、元数据完整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9202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规则脚本能做，我们也做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0837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运动学与几何层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物体穿模、悬空无支撑、瞬移（超速）、夹爪与物体距离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2880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需要场景几何与物体关系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语义逻辑层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4178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任务阶段顺序、夹爪状态与接触事件一致、类别与可供性相符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303520" y="38404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F4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需要经证明无矛盾的规则库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108960"/>
                <a:gridCol w="28346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三层检查均无矛盾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进入可付款、可训练的集合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可纠正的记录错误（如时间戳乱序）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生成派生版本，原始记录保留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违反规则，附帧号与规则编号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退回卖方，作为补采依据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缺少判定所需的输入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明确列出缺什么，不当作通过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7635240" y="1828800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36408" y="199339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有效失败必须保留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836408" y="2359152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杯子真的滑落是有价值的失败样本，不是坏数据；引擎不会把真实失败改写成成功。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635240" y="3218688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836408" y="338328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签名验收单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836408" y="3749040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绑定数据哈希与规则库版本；卖方、买方、第三方用公钥即可离线复验，不依赖我们的服务。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635240" y="4608576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836408" y="477316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客户环境内运行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7836408" y="5138928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数据不出客户机房；我们交付引擎与规则库，不持有数据。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· 真实数据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真实数据上，结构基线漏掉的：卡死 / 冻结、缺指令、字段说明错误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X-Embodiment 公开数据：DROID（Franka）、Jaco Play（Kinova）、NYU ROT（xArm）共 41 条轨迹、3,870 帧</a:t>
            </a:r>
            <a:endParaRPr lang="en-US" sz="1250" dirty="0"/>
          </a:p>
        </p:txBody>
      </p:sp>
      <p:pic>
        <p:nvPicPr>
          <p:cNvPr id="5" name="Image 0" descr="/home/user/ipython/axiomality/prototype/figures/real_finding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676656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81051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99248" y="197510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机械臂卡死 / 数据流冻结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2340864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DROID 第 3 条，第 19–33 帧：指令关节位置在动（中位差 0.133 rad），实测关节逐位不变；第 43–49 帧整行重复。用它训练，策略会学到「指令无效」。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98080" y="318211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99248" y="334670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关节越限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99248" y="3712464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DROID 第 1 条，第 141–172 帧：关节 6 达 3.959 rad，超出 Panda 手册上限 207 mrad（也可能是 FR3 机型，其上限 4.52 rad——验收单会把这个歧义写明）。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98080" y="455371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99248" y="471830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字段说明与数值不符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699248" y="5084064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DROID 的 action 字段文档写「6 个关节速度」，实际 2,551 帧全部等于指令笛卡尔位姿。另有 8/14 条缺少任何语言指令。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85232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51560"/>
                <a:gridCol w="594360"/>
                <a:gridCol w="548640"/>
                <a:gridCol w="548640"/>
                <a:gridCol w="1188720"/>
                <a:gridCol w="128016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 / 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通过*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未检项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DROID（Franka）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/ 2,551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时间戳、语义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离线验签通过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Jaco Play（Kinova）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/ 879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时间戳、语义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离线验签通过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NYU ROT（xArm）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/ 440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时间戳、语义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离线验签通过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真实公开数据（OXE 公共存储桶）。*仅指可检项通过：这些数据集没有时间戳和物体状态，相关检查未执行。DROID 上结构基线与引擎的通过 / 拒收一致 8/14；卡死、越限两条均在 DROID 自标为 failure 的轨迹中。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· 合成基准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检出与强基线持平：我们卖的不是更聪明的检查，而是双方都认的验收单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含噪声的合成数据：3 种任务变体、每类错误 20 条、容差在独立数据上校准；三方都不读注入密钥；精确率三方均为 1.00</a:t>
            </a:r>
            <a:endParaRPr lang="en-US" sz="1250" dirty="0"/>
          </a:p>
        </p:txBody>
      </p:sp>
      <p:pic>
        <p:nvPicPr>
          <p:cNvPr id="5" name="Image 0" descr="/home/user/ipython/axiomality/prototype/figures/benchmark_v2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6309360" cy="256286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98848"/>
          <a:ext cx="7223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AXIOMALITY 引擎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我们的强基线（写于引擎之后）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结构基线（半天）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检出率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干净样本误拒（140 条）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时间戳乱序：字节级还原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/ 20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0（直接丢弃）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0（直接丢弃）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缺输入时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返回「未知」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每条耗时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 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 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01000" y="1810512"/>
            <a:ext cx="3657600" cy="1307592"/>
          </a:xfrm>
          <a:prstGeom prst="roundRect">
            <a:avLst>
              <a:gd name="adj" fmla="val 559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02168" y="197510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我们不回避的结论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02168" y="2340864"/>
            <a:ext cx="3255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8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强规则基线在检出率上和我们持平。只靠「会写检查」建不起壁垒——任何团队知道要抓什么，就能写出来。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8001000" y="3227832"/>
            <a:ext cx="3657600" cy="1307592"/>
          </a:xfrm>
          <a:prstGeom prst="roundRect">
            <a:avLst>
              <a:gd name="adj" fmla="val 559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02168" y="339242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细节优势（基线约一天可追平，不作壁垒）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02168" y="3758184"/>
            <a:ext cx="3255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8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更小的误差：物体下陷 25 mm 起即可检出（基线 40 mm），松手后跳动 30 mm 起（基线 60 mm）；时间戳乱序可字节级还原；缺输入返回「未知」而非误杀；每条裁决引用规则编号。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8001000" y="4645152"/>
            <a:ext cx="3657600" cy="1307592"/>
          </a:xfrm>
          <a:prstGeom prst="roundRect">
            <a:avLst>
              <a:gd name="adj" fmla="val 5594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02168" y="480974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所以壁垒在哪里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02168" y="5175504"/>
            <a:ext cx="3255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88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中立出具、结论可复算、验收单离线可验，加上跨客户累积的错误库——这是单个买方或卖方自己写不出来的。</a:t>
            </a:r>
            <a:endParaRPr lang="en-US" sz="88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内部原型，合成数据；注入器、引擎与基线出自同一团队。完整结果与代码：prototype/results/benchmark_v2.md，一条命令复现。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单位经济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验收费远小于坏数据的损失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测算示意：一次 1 万小时的数据采购；参数可替换，真实值在首个付费试点中逐批测量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854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采购量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185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 小时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426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采购单价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642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750 元 / 小时（市场报价 500–1,000 元区间中值）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998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采购额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099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750 万元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557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无效数据比例（假设）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557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15%（媒体报道「批量露馅」，真实比例待 PoC 实测）</a:t>
            </a:r>
            <a:endParaRPr lang="en-US" sz="10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4069080"/>
          <a:ext cx="56692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583680" y="17830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 万 vs 45 万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4414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一次采购的坏数据损失 vs 验收费（示意）；按本页假设，无效比例 ≥ 4% 买方即回本，不计间接损失时 ≥ 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83680" y="30175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84848" y="318211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谁付钱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784848" y="3547872"/>
            <a:ext cx="46268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买方付：少付无效数据的钱，并省掉回查成本。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卖方也愿意付：带验收单的数据更容易成交、更快回款，优质卖方借此与「露馅」的同行拉开差距。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83680" y="44805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84848" y="464515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我们在试点中逐批记录的真实数字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5010912"/>
            <a:ext cx="4626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无效比例 · 每千条人工复核工时 · 验收单对成交价与回款周期的影响 · 每小时验收的实际成本（VLM 推理、求解器、人工复核分项）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测算示意：采购单价取公开报价区间中值；无效比例与间接损失为假设；验收费率为目标值，均未经客户验证。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下半年：数据开始买卖，质量开始出事，规则刚刚落地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供给过剩、质量失真、标准只给指标不给证据——验收环节的窗口就在这 12 个月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4415" cy="0"/>
          </a:xfrm>
          <a:prstGeom prst="line">
            <a:avLst/>
          </a:prstGeom>
          <a:noFill/>
          <a:ln w="19050">
            <a:solidFill>
              <a:srgbClr val="D5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5786" y="229514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2242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6522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智元获首张人形机器人数据集 CR 认证（CR-3-06）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94669" y="229514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1125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25405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YD/T 6770—2026 基准测试方法实施；实景实训专项行动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552" y="229514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0008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44288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北数所首发具身智能数据要素跨境流通平台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32435" y="2295144"/>
            <a:ext cx="164592" cy="164592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08891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2026-09-20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63171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虎嗅：数采中心开始批量露馅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451318" y="2295144"/>
            <a:ext cx="164592" cy="164592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27774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2026-11-01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82054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信通院《具身智能数据集质量要求及评价方法》实施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07008" y="373075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供给过剩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096512"/>
            <a:ext cx="31638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座数采中心、京东计划 60 万人两年采 1,000 万小时第一视角视频；Build AI 免费开放约 100 万小时工厂视频。原始小时数不再稀缺，稀缺的是能证明可用的小时数。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03320"/>
            <a:ext cx="329184" cy="32918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297680" y="35661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56048" y="373075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质量出事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498848" y="4096512"/>
            <a:ext cx="31638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数采中心「露馅」、有效性被公开质疑。买方开始要求验收，卖方开始需要证明自己。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703320"/>
            <a:ext cx="329184" cy="329184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8046720" y="35661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705088" y="373075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规则落地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8247888" y="4096512"/>
            <a:ext cx="31638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信通院八维指标 11-01 实施，买卖双方第一次有了共同的质量语言，但仍缺一张可逐条复验的验收单——我们把八维指标变成机器可校验的字段。</a:t>
            </a:r>
            <a:endParaRPr lang="en-US" sz="10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703320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来源：央广网（2025-09）；新华网（2026-06-01）；北数所（2026-09）；虎嗅（2026-09-20）；21 财经（2026-08-05）；量子位（2026-04，京东）；Build AI（2026-04）。</a:t>
            </a:r>
            <a:endParaRPr lang="en-US" sz="800" dirty="0"/>
          </a:p>
        </p:txBody>
      </p:sp>
      <p:sp>
        <p:nvSpPr>
          <p:cNvPr id="35" name="Text 3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真正的对手是「自检」和认证机构，不是另一家创业公司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公开检索未见中立方出具可离线复验的逐条验收记录；我们靠「可复算」保证中立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83080"/>
                <a:gridCol w="1417320"/>
                <a:gridCol w="1828800"/>
                <a:gridCol w="1828800"/>
                <a:gridCol w="13075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买方自建质检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（国地中心、京东、智元）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卖方自检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（数采中心）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认证机构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（CR-3-06、信通院评测）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Cosmos Evaluator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（免费打分）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AXIOMALITY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中立：买卖双方都认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需隔离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逐条裁决，不是抽样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语义与物理关系检查（阶段、接触、穿模、瞬移）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原型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结论可复算、签名离线可验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按批交付，天级周期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原型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公信力与渠道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待建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具备     ◐  部分     ○  不具备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82803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与认证机构：做底座，不抢证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193792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 认证是一次性审核加证书，信通院是抽样评测。我们把八维指标变成逐条可校验的字段，做它们评价结果的机器可验载体。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482803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与买方自建：中立才有意义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5193792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卖方的自检买方不认，买方的自检卖方不认。验收单要双方都认，只能由第三方出具，并且任何人都能复算。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0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7888" y="482803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NVIDIA：打分 ≠ 验收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5193792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Cosmos Evaluator 给生成数据打合理性分，但不签名、不做逐条规则裁决、绑定 NVIDIA 栈。我们把它当作输入之一，而不是对手。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来源：央广网（CR-3-06）；21 财经（信通院标准）；NVIDIA（2026-03）；各公司公开资料。「中立」一行：靠可复算保证中立——规则与判定代码对买卖双方开放审计，验收业务设独立主体并披露利益冲突；「公信力与渠道」如实标注为待建。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壁垒假设：中立 + 可复算 + 跨客户累积的错误库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规则扩到数百条、覆盖多个任务族时的一致性待验证；当前原型 30 条规则、1 个任务族，真实数据上暂只跑数值检查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658368"/>
          </a:xfrm>
          <a:prstGeom prst="rect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37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 · TUpper（ISO/IEC 21838-4:2023）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21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国际标准顶层本体之一（与 BFO、DOLCE 并列）；创始人为核心贡献者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86400" cy="658368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9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 · 物理世界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物体、部件、形状、度量、材料、过程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86400" cy="658368"/>
          </a:xfrm>
          <a:prstGeom prst="rect">
            <a:avLst/>
          </a:prstGeom>
          <a:solidFill>
            <a:srgbClr val="3A4160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00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领域层 · 机器人操作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84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可供性、接触事件、任务阶段、关节限位、物体恒存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86400" cy="658368"/>
          </a:xfrm>
          <a:prstGeom prst="rect">
            <a:avLst/>
          </a:prstGeom>
          <a:solidFill>
            <a:srgbClr val="E9EBF2"/>
          </a:solidFill>
          <a:ln w="12700">
            <a:solidFill>
              <a:srgbClr val="E9EB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32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· 轨迹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帧、传感器、血缘；LeRobot / RLDS / MCAP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9194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规则库自检（原型已实现）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285232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条规则：24 条用 Z3 在 14 帧有界模型上证明可同时满足（一条成功、一条滑落）；其中 9 条在合成数据上逐条由 Z3 判定；6 条为数值检查。真实数据模式目前只跑数值检查。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错误库飞轮（规划中，原型未实现）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2194560"/>
            <a:ext cx="365760" cy="365760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176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客户一批数据验收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2798064"/>
            <a:ext cx="365760" cy="365760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779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拒收与未知条目归类，发现新的错误类型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3401568"/>
            <a:ext cx="365760" cy="365760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新规则由候选生成、经求解器证明不与现有规则矛盾后发布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0" y="4005072"/>
            <a:ext cx="365760" cy="365760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39867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旧批次按新规则重验，验收单升级版本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0" y="4608576"/>
            <a:ext cx="365760" cy="365760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4590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下一个客户的同类错误直接被拦住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52578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84848" y="5422392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稀缺的是人：全球能写一阶逻辑公理并做机器一致性证明的团队极少；检查脚本、VLM 标注、签名清单都是通用件，我们也把它们当通用件。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来源：ISO/IEC 21838-4:2023；ISO/IEC 24707；COLORE（多伦多大学）。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一个产品、一种计价：按验收的数据量收费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收入跟着数据交易量走，不跟着项目走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付费试点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8–12 周 · 30–80 万元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6032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一个任务族、一台本体、客户自带数据；四档基线盲测；试点费抵扣首年费用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按量验收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按验收小时或批次计费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56032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目标费率为采购额的 5–8%；卖方为「带验收单出货」付费，或买方为「入库验收」付费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站内部署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年费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56032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大型训练场与数采中心在自有机房运行引擎，按年授权规则库与更新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= 数据采购额 × 验收费率（测算示意）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914400"/>
                <a:gridCol w="1188720"/>
                <a:gridCol w="100584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年度真机数据采购量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验收费率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验收市场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万小时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亿元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3,000 万元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万小时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750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22.5 亿元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1.35 亿元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 万小时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750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 亿元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亿元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772400" y="374904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73568" y="3913632"/>
            <a:ext cx="3483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情景依据与远期期权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73568" y="4279392"/>
            <a:ext cx="34838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行业共识：可用状态需千万小时级真机数据；京东计划两年采 1,000 万小时。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远期期权（本阶段不计入，触发后计入）：合成 / 世界模型数据的出厂检验（首个合成数据供应商付费后）；出海整机厂的欧盟数据治理证据包（首个出海客户后）；运行时语义护栏。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测算示意：采购量与费率为情景假设，单价取公开报价区间；来源：澎湃新闻（2026）；量子位（2026-04）；贵州省大数据局（2026-07）。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市场路径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标准起草单位就是第一批客户名单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GB/Z 218.1—2026 的起草单位同时是最大的数据买方与卖方——他们最需要一张双方都认的验收单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50876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目标客户（未签约）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切入点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人形机器人（上海）/ 国地中心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训练场 · 卖方与买方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存量 100 万+ 条的验收与上架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数据平台负责人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帕西尼感知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数采工厂 · 卖方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「带验收单出货」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数据业务负责人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银河通用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具身大脑 · 买方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外采数据入库验收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小米机器人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整机 · 买方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外采数据入库验收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自变量机器人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具身大脑 · 买方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外采数据入库验收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穹彻智能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具身大脑 · 买方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外采数据入库验收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浦江实验室 · 智源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研究机构 · 发布方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开源数据集附验收单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北数所具身跨境流通平台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交易平台 · 渠道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挂牌数据的验收单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平台运营负责人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8308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99248" y="194767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付费试点设计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2313432"/>
            <a:ext cx="37581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客户自带一批数据，同一批依次通过四档基线：客户现有脚本、几何规则、VLM + 规则、完整引擎。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专家真值独立建立，客户持有留出集。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验收指标：严重错误误放率、好数据误拒率、未知比例、每千条复核工时、端到端时长。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结果预先约定：若简单规则同样有效，就收窄到规则抓不到的错误类。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46634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99248" y="482803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99248" y="5193792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每季度完成验收的数据小时数：同时反映供给（吞吐）、需求（付费验收的客户）与质量（通过率）。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起草单位来源：全国标准信息公共服务平台（GB/Z 218.1—2026）。名单为目标客户，均未签约。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已经做成的、原型跑出来的、90 天内可以验证的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每一项都可以当场核查；目标均标注日期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377440"/>
            <a:ext cx="31638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形式化本体积累：TUpper（ISO/IEC 21838-4）团队背景；与产品规则库的对齐是下一步目标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万条实测三维几何数据包；房间级重建与物体级标注技术栈（9 项发明专利申请）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消费级空间应用已上线（Apple Vision Pro）；13 项授权专利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北京国际大数据交易所数据经纪商资质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5604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原型（本月跑通）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377440"/>
            <a:ext cx="31638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真实数据：DROID、Jaco Play、NYU ROT 共 41 条轨迹、3,870 帧；在 DROID 中发现机械臂卡死、关节越限、动作字段说明与数值不符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合成基准（含噪声）：检出 92%、0 误拒，与我们的强基线持平；细节优势基线约一天可追平，不作壁垒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每条真实数据集都签发了验收单，离线验签通过；改任一字段即失败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一条命令复现全部结果（run_v2.py）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4672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0508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 31 日前可验证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47888" y="2377440"/>
            <a:ext cx="31638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DROID / AgiBot World 真实数据上对比加强规则基线与 Cosmos Evaluator，第三方持有注入密钥；若增量 &lt; 10 个百分点，收窄到规则抓不到的错误类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家具名客户以自带数据跑付费试点，给出验收前后的对照数字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验收单字段对齐信通院八维指标，向信通院或 CR 认证联盟之一提交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在带物体标注的真实数据上跑出语义层，不再全部「未知」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来源：AXIOMALITY 内部记录与原型代码（可当场演示）；目标为计划值。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能写经证明的规则库，也经历过一年 5,000 万美元营收的创业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本体与形式化验证、AI 算法、感知与机器人、三维资产四条能力线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 &amp; CEO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标准：ISO/IEC 21838-4（TUpper 顶层本体）核心贡献者；国际工业本体联盟成员；多伦多大学人工智能博士与研究员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科学：形式化本体、一阶逻辑公理体系的一致性证明与模型构造、可信神经符号 AI；21 篇论文，AAAI 特邀报告，1 部英文专著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经营：跨境 DTC 平台创始团队成员，获 Accel 等美国头部风投 500 万美元天使投资，一年内年收入超 5,000 万美元，带领 100+ 人团队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空间计算：创办空间计算公司，Apple Vision Pro 首批 AR 应用之一；13 项授权专利，2,400 万元专利转让、1,000 万元技术许可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194767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CTO &amp; 首席科学家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313432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麦克马斯特大学 AI 博士；曾任一线大厂 AI 算法科学家、创业公司首席科学家；加拿大 AI 学术与工业应用大赛第一名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285292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301752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感知与机器人负责人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3383280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哈尔滨工业大学机械电子工程博士；曾任小鹏汽车 AI 算法工程师、智能感知中心总监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392277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4087368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仿真与三维资产负责人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4453128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年+ 游戏与舞台美术总监；主导 1750 年北京古城数字（VR）重建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5029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519379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正在招募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555955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在训练场 / 数采体系交付过数据的产业侧合伙人；训练过 VLA 策略的机器人学习科学家。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路演稿  ·  2026 年 10 月  ·  保密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每一批换手的具身数据，</a:t>
            </a:r>
            <a:endParaRPr lang="en-US" sz="32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都应该先验货，再付款。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从数采中心的出货验收开始；再到买方的入库验收、合成数据的出厂检验；最终成为具身数据交易里默认附带的那张验收单。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51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两个介绍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请介绍自变量、穹彻等被投公司的数据负责人，用他们自己的一批数据做盲测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251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分钟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498848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现场生成一张验收单，请您亲手改一条数据，看验签当场失败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4251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3252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 31 日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247888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 90 天承诺届时逐项核对：真实数据盲测、具名付费试点、标准机构提交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AXIOMALITY  ·  保密  ·  未经许可不得传播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AXIOMALITY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AXIOMALITY 路演稿</dc:title>
  <dc:subject/>
  <dc:creator>AXIOMALITY</dc:creator>
  <cp:lastModifiedBy>AXIOMALITY</cp:lastModifiedBy>
  <cp:revision>1</cp:revision>
  <dcterms:created xsi:type="dcterms:W3CDTF">2026-09-26T07:28:36Z</dcterms:created>
  <dcterms:modified xsi:type="dcterms:W3CDTF">2026-09-26T07:28:36Z</dcterms:modified>
</cp:coreProperties>
</file>
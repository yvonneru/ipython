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USD / h</c:v>
                </c:pt>
              </c:strCache>
            </c:strRef>
          </c:tx>
          <c:spPr>
            <a:solidFill>
              <a:srgbClr val="C8123F"/>
            </a:solidFill>
            <a:ln w="31750" cap="flat">
              <a:solidFill>
                <a:srgbClr val="C8123F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B1F2A"/>
                    </a:solidFill>
                    <a:latin typeface="Calibr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C8123F"/>
              </a:solidFill>
              <a:ln w="9525" cap="flat">
                <a:solidFill>
                  <a:srgbClr val="C8123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Q4 2026</c:v>
                  </c:pt>
                  <c:pt idx="1">
                    <c:v>2027</c:v>
                  </c:pt>
                  <c:pt idx="2">
                    <c:v>2028</c:v>
                  </c:pt>
                  <c:pt idx="3">
                    <c:v>2029</c:v>
                  </c:pt>
                  <c:pt idx="4">
                    <c:v>2030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60</c:v>
                </c:pt>
                <c:pt idx="1">
                  <c:v>34</c:v>
                </c:pt>
                <c:pt idx="2">
                  <c:v>20</c:v>
                </c:pt>
                <c:pt idx="3">
                  <c:v>15</c:v>
                </c:pt>
                <c:pt idx="4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B1F2A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30-second open: we are the QA and certification layer for robot training data. Any format in; a per-record verdict and a signed, offline-verifiable passport out. The founder co-wrote an ISO top-level ontology standard and previously built a $50M-revenue company.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7223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robot dataset ships with</a:t>
            </a:r>
            <a:endParaRPr lang="en-US" sz="3200" dirty="0"/>
          </a:p>
          <a:p>
            <a:pPr algn="l" indent="0" marL="0">
              <a:lnSpc>
                <a:spcPct val="110000"/>
              </a:lnSpc>
              <a:spcAft>
                <a:spcPts val="300"/>
              </a:spcAft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machine-checkable passport.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2004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4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verification layer for physical-AI data: a formally checked engine that scores, signs and audits every robot trajectory, so labs train on evidence instead of assumptions.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160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 round  ·  September 2026  ·  Confidential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7818120" y="1234440"/>
            <a:ext cx="3840480" cy="2286000"/>
          </a:xfrm>
          <a:prstGeom prst="rect">
            <a:avLst/>
          </a:prstGeom>
          <a:solidFill>
            <a:srgbClr val="232A44"/>
          </a:solidFill>
          <a:ln w="12700">
            <a:solidFill>
              <a:srgbClr val="232A44"/>
            </a:solidFill>
            <a:prstDash val="solid"/>
          </a:ln>
        </p:spPr>
      </p:sp>
      <p:pic>
        <p:nvPicPr>
          <p:cNvPr id="7" name="Image 0" descr="/tmp/claude-0/-home-user-ipython/dfd014c8-a0a0-5393-8a9f-8ba86b471611/scratchpad/src/media_cn/cover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751076"/>
            <a:ext cx="3566160" cy="1252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818120" y="1234440"/>
            <a:ext cx="201168" cy="0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818120" y="1234440"/>
            <a:ext cx="0" cy="201168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1457432" y="1234440"/>
            <a:ext cx="201168" cy="0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658600" y="1234440"/>
            <a:ext cx="0" cy="201168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818120" y="3319272"/>
            <a:ext cx="0" cy="201168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818120" y="3520440"/>
            <a:ext cx="201168" cy="0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1457432" y="3520440"/>
            <a:ext cx="201168" cy="0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1658600" y="3319272"/>
            <a:ext cx="0" cy="201168"/>
          </a:xfrm>
          <a:prstGeom prst="line">
            <a:avLst/>
          </a:prstGeom>
          <a:noFill/>
          <a:ln w="19050">
            <a:solidFill>
              <a:srgbClr val="C8123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358444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sample 429: measured point cloud with oriented 3D boxes (real data)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548640" y="4892040"/>
            <a:ext cx="2468880" cy="0"/>
          </a:xfrm>
          <a:prstGeom prst="line">
            <a:avLst/>
          </a:prstGeom>
          <a:noFill/>
          <a:ln w="9525">
            <a:solidFill>
              <a:srgbClr val="3A416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9834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ISO/IEC 21838-4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5641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by a core contributor to the TUpper top-level ontology standard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337560" y="4892040"/>
            <a:ext cx="2468880" cy="0"/>
          </a:xfrm>
          <a:prstGeom prst="line">
            <a:avLst/>
          </a:prstGeom>
          <a:noFill/>
          <a:ln w="9525">
            <a:solidFill>
              <a:srgbClr val="3A416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337560" y="49834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100,000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3337560" y="5641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3D asset packages (photo · USDZ · PLY · JSON)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126480" y="4892040"/>
            <a:ext cx="2468880" cy="0"/>
          </a:xfrm>
          <a:prstGeom prst="line">
            <a:avLst/>
          </a:prstGeom>
          <a:noFill/>
          <a:ln w="9525">
            <a:solidFill>
              <a:srgbClr val="3A4160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126480" y="49834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+ 9</a:t>
            </a:r>
            <a:endParaRPr lang="en-US" sz="1900" dirty="0"/>
          </a:p>
        </p:txBody>
      </p:sp>
      <p:sp>
        <p:nvSpPr>
          <p:cNvPr id="25" name="Text 22"/>
          <p:cNvSpPr txBox="1"/>
          <p:nvPr/>
        </p:nvSpPr>
        <p:spPr>
          <a:xfrm>
            <a:off x="6126480" y="5641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Granted patents + invention applications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915400" y="4892040"/>
            <a:ext cx="2468880" cy="0"/>
          </a:xfrm>
          <a:prstGeom prst="line">
            <a:avLst/>
          </a:prstGeom>
          <a:noFill/>
          <a:ln w="9525">
            <a:solidFill>
              <a:srgbClr val="3A4160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5400" y="4983480"/>
            <a:ext cx="2606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Q4 2026</a:t>
            </a:r>
            <a:endParaRPr lang="en-US" sz="1900" dirty="0"/>
          </a:p>
        </p:txBody>
      </p:sp>
      <p:sp>
        <p:nvSpPr>
          <p:cNvPr id="28" name="Text 25"/>
          <p:cNvSpPr txBox="1"/>
          <p:nvPr/>
        </p:nvSpPr>
        <p:spPr>
          <a:xfrm>
            <a:off x="8915400" y="5641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 internal test; first paid design partners 2027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 teams cannot trust their data, and the flood is getting worse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 modes that cost real engineering hours today, none of which produce a record anyone else can check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15258" cy="2834640"/>
          </a:xfrm>
          <a:prstGeom prst="roundRect">
            <a:avLst>
              <a:gd name="adj" fmla="val 2581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1947672"/>
            <a:ext cx="26557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training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13432"/>
            <a:ext cx="311292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Demonstrations, field logs, scans and generated clips arrive with different frames, units and task labels. Coordinate errors, duplicates and mislabeled phases train silently. In a 2026 Voxel51 survey, 89% of teams blamed data for model failures and 48% cited quality problems.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9384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749808" y="3959352"/>
            <a:ext cx="31129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spend 600 review hours a month and still don’t know what got through.”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38218" y="1783080"/>
            <a:ext cx="3515258" cy="2834640"/>
          </a:xfrm>
          <a:prstGeom prst="roundRect">
            <a:avLst>
              <a:gd name="adj" fmla="val 2581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996586" y="1947672"/>
            <a:ext cx="26557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a failure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539386" y="2313432"/>
            <a:ext cx="311292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Perception, coverage, task order and physical contact all produce the same failed rollout. Engineers need the source record, a localized cause and a regression test. Today they get a video and a guess.</a:t>
            </a:r>
            <a:endParaRPr lang="en-US" sz="10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1929384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539386" y="3959352"/>
            <a:ext cx="31129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frame, which rule, which batch? Nobody can tell us.”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8127797" y="1783080"/>
            <a:ext cx="3515258" cy="2834640"/>
          </a:xfrm>
          <a:prstGeom prst="roundRect">
            <a:avLst>
              <a:gd name="adj" fmla="val 2581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786165" y="1947672"/>
            <a:ext cx="265572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release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328965" y="2313432"/>
            <a:ext cx="3112922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sensors, sites and synthetic mixtures invalidate earlier conclusions. There is no versioned, per-record evidence of what a model was trained on, no real-to-synthetic ratio, no consent lineage, and nothing a buyer, insurer or notified body can re-check.</a:t>
            </a:r>
            <a:endParaRPr lang="en-US" sz="1050" dirty="0"/>
          </a:p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1929384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28965" y="3959352"/>
            <a:ext cx="311292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“We can’t prove what we trained on, so we can’t sell it or ship it into the EU.”</a:t>
            </a:r>
            <a:endParaRPr lang="en-US" sz="1050" dirty="0"/>
          </a:p>
        </p:txBody>
      </p:sp>
      <p:sp>
        <p:nvSpPr>
          <p:cNvPr id="20" name="Text 15"/>
          <p:cNvSpPr txBox="1"/>
          <p:nvPr/>
        </p:nvSpPr>
        <p:spPr>
          <a:xfrm>
            <a:off x="54864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$50–200 / h</a:t>
            </a:r>
            <a:endParaRPr lang="en-US" sz="2400" dirty="0"/>
          </a:p>
        </p:txBody>
      </p:sp>
      <p:sp>
        <p:nvSpPr>
          <p:cNvPr id="21" name="Text 16"/>
          <p:cNvSpPr txBox="1"/>
          <p:nvPr/>
        </p:nvSpPr>
        <p:spPr>
          <a:xfrm>
            <a:off x="548640" y="54498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Teleoperation data, with no record of what is usable</a:t>
            </a:r>
            <a:endParaRPr lang="en-US" sz="1000" dirty="0"/>
          </a:p>
        </p:txBody>
      </p:sp>
      <p:sp>
        <p:nvSpPr>
          <p:cNvPr id="22" name="Text 17"/>
          <p:cNvSpPr txBox="1"/>
          <p:nvPr/>
        </p:nvSpPr>
        <p:spPr>
          <a:xfrm>
            <a:off x="333756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58,000+</a:t>
            </a:r>
            <a:endParaRPr lang="en-US" sz="2400" dirty="0"/>
          </a:p>
        </p:txBody>
      </p:sp>
      <p:sp>
        <p:nvSpPr>
          <p:cNvPr id="23" name="Text 18"/>
          <p:cNvSpPr txBox="1"/>
          <p:nvPr/>
        </p:nvSpPr>
        <p:spPr>
          <a:xfrm>
            <a:off x="3337560" y="54498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 on the LeRobot hub (May 2026); none validated or signed</a:t>
            </a:r>
            <a:endParaRPr lang="en-US" sz="1000" dirty="0"/>
          </a:p>
        </p:txBody>
      </p:sp>
      <p:sp>
        <p:nvSpPr>
          <p:cNvPr id="24" name="Text 19"/>
          <p:cNvSpPr txBox="1"/>
          <p:nvPr/>
        </p:nvSpPr>
        <p:spPr>
          <a:xfrm>
            <a:off x="612648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0</a:t>
            </a:r>
            <a:endParaRPr lang="en-US" sz="2400" dirty="0"/>
          </a:p>
        </p:txBody>
      </p:sp>
      <p:sp>
        <p:nvSpPr>
          <p:cNvPr id="25" name="Text 20"/>
          <p:cNvSpPr txBox="1"/>
          <p:nvPr/>
        </p:nvSpPr>
        <p:spPr>
          <a:xfrm>
            <a:off x="6126480" y="54498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reuse of the action layer across embodiments</a:t>
            </a:r>
            <a:endParaRPr lang="en-US" sz="1000" dirty="0"/>
          </a:p>
        </p:txBody>
      </p:sp>
      <p:sp>
        <p:nvSpPr>
          <p:cNvPr id="26" name="Text 21"/>
          <p:cNvSpPr txBox="1"/>
          <p:nvPr/>
        </p:nvSpPr>
        <p:spPr>
          <a:xfrm>
            <a:off x="8915400" y="484632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400" dirty="0"/>
          </a:p>
        </p:txBody>
      </p:sp>
      <p:sp>
        <p:nvSpPr>
          <p:cNvPr id="27" name="Text 22"/>
          <p:cNvSpPr txBox="1"/>
          <p:nvPr/>
        </p:nvSpPr>
        <p:spPr>
          <a:xfrm>
            <a:off x="8915400" y="5449824"/>
            <a:ext cx="2651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 selling a per-record, machine-checkable certificate</a:t>
            </a:r>
            <a:endParaRPr lang="en-US" sz="1000" dirty="0"/>
          </a:p>
        </p:txBody>
      </p:sp>
      <p:sp>
        <p:nvSpPr>
          <p:cNvPr id="28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29" name="Text 24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Voxel51 State of Visual AI survey (2026); Hugging Face (May 2026); DreamVu, Robot Training Data Companies: The 2026 Landscape; Open X-Embodiment (2023).</a:t>
            </a:r>
            <a:endParaRPr lang="en-US" sz="800" dirty="0"/>
          </a:p>
        </p:txBody>
      </p:sp>
      <p:sp>
        <p:nvSpPr>
          <p:cNvPr id="30" name="Text 2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hours are going to zero, generators are flooding training, and the money has arrived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is moving from hours to evidence; the evidence format becomes the unit of trade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Supply: raw data is free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313432"/>
            <a:ext cx="316382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AI released Egocentric-1M, about one million hours of factory video under Apache-2.0 (Apr 2026). Teleoperation at $50–200/hour has no moat. Margin survives only in semantics, verification and certification.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0240"/>
            <a:ext cx="329184" cy="32918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297680" y="178308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5604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Demand: synthetic data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498848" y="2313432"/>
            <a:ext cx="316382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 Labs’ Atlas (Sep 2026) generates robot-camera RGB and depth from phone video; NVIDIA’s Cosmos data-factory blueprint ships a free Evaluator that scores generated clips. More generators mean more unverified data entering training, with no signed record of real-to-synthetic ratio.</a:t>
            </a:r>
            <a:endParaRPr lang="en-US" sz="105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329184" cy="329184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8046720" y="1783080"/>
            <a:ext cx="3566160" cy="2331720"/>
          </a:xfrm>
          <a:prstGeom prst="roundRect">
            <a:avLst>
              <a:gd name="adj" fmla="val 3137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70508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Money: budgets arrived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8247888" y="2313432"/>
            <a:ext cx="316382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10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Physical-AI startups raised a record $18.6B in Q2 2026 alone. Physical Intelligence (~$11B), Skild ($14B), Generalist ($3B) and Figure ($39B) are buying data; Scale’s physical-AI engine passed 150k hours. Buyers now gate their own data and need a neutral referee.</a:t>
            </a:r>
            <a:endParaRPr lang="en-US" sz="10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20240"/>
            <a:ext cx="329184" cy="329184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48640" y="4343400"/>
            <a:ext cx="4754880" cy="329184"/>
          </a:xfrm>
          <a:prstGeom prst="rect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85800" y="43708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Certification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2011680" y="437083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packs, listing evidence; what regulators and buyers accept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548640" y="4727448"/>
            <a:ext cx="5486400" cy="329184"/>
          </a:xfrm>
          <a:prstGeom prst="rect">
            <a:avLst/>
          </a:prstGeom>
          <a:solidFill>
            <a:srgbClr val="A61A3F"/>
          </a:solidFill>
          <a:ln w="12700">
            <a:solidFill>
              <a:srgbClr val="A61A3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47548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2011680" y="4754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physics, logic, uncertainty: is the record consistent?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548640" y="5111496"/>
            <a:ext cx="6217920" cy="329184"/>
          </a:xfrm>
          <a:prstGeom prst="rect">
            <a:avLst/>
          </a:prstGeom>
          <a:solidFill>
            <a:srgbClr val="232A44"/>
          </a:solidFill>
          <a:ln w="12700">
            <a:solidFill>
              <a:srgbClr val="232A44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85800" y="513892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Semantics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2011680" y="5138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happened: objects, affordances, contacts, task phases</a:t>
            </a:r>
            <a:endParaRPr lang="en-US" sz="950" dirty="0"/>
          </a:p>
        </p:txBody>
      </p:sp>
      <p:sp>
        <p:nvSpPr>
          <p:cNvPr id="26" name="Shape 21"/>
          <p:cNvSpPr/>
          <p:nvPr/>
        </p:nvSpPr>
        <p:spPr>
          <a:xfrm>
            <a:off x="548640" y="5495544"/>
            <a:ext cx="6949440" cy="329184"/>
          </a:xfrm>
          <a:prstGeom prst="rect">
            <a:avLst/>
          </a:prstGeom>
          <a:solidFill>
            <a:srgbClr val="E9EBF2"/>
          </a:solidFill>
          <a:ln w="12700">
            <a:solidFill>
              <a:srgbClr val="E9EBF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685800" y="5522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hours</a:t>
            </a:r>
            <a:endParaRPr lang="en-US" sz="1100" dirty="0"/>
          </a:p>
        </p:txBody>
      </p:sp>
      <p:sp>
        <p:nvSpPr>
          <p:cNvPr id="28" name="Text 23"/>
          <p:cNvSpPr txBox="1"/>
          <p:nvPr/>
        </p:nvSpPr>
        <p:spPr>
          <a:xfrm>
            <a:off x="2011680" y="552297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$50–200/h (2024) → near zero (2026)</a:t>
            </a:r>
            <a:endParaRPr lang="en-US" sz="950" dirty="0"/>
          </a:p>
        </p:txBody>
      </p:sp>
      <p:sp>
        <p:nvSpPr>
          <p:cNvPr id="29" name="Shape 24"/>
          <p:cNvSpPr/>
          <p:nvPr/>
        </p:nvSpPr>
        <p:spPr>
          <a:xfrm>
            <a:off x="7863840" y="4343400"/>
            <a:ext cx="3794760" cy="1554480"/>
          </a:xfrm>
          <a:prstGeom prst="roundRect">
            <a:avLst>
              <a:gd name="adj" fmla="val 4706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8065008" y="4507992"/>
            <a:ext cx="3392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Compliance: tailwind, not thesis</a:t>
            </a:r>
            <a:endParaRPr lang="en-US" sz="1150" dirty="0"/>
          </a:p>
        </p:txBody>
      </p:sp>
      <p:sp>
        <p:nvSpPr>
          <p:cNvPr id="31" name="Text 26"/>
          <p:cNvSpPr txBox="1"/>
          <p:nvPr/>
        </p:nvSpPr>
        <p:spPr>
          <a:xfrm>
            <a:off x="8065008" y="4873752"/>
            <a:ext cx="33924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 Annex I applies to AI embedded in machinery, including ML safety components of robots, from 2 Aug 2028 (Reg. 2026/1744). We sell to the data race today; the audit pack is what the same evidence becomes in 2028.</a:t>
            </a:r>
            <a:endParaRPr lang="en-US" sz="950" dirty="0"/>
          </a:p>
        </p:txBody>
      </p:sp>
      <p:sp>
        <p:nvSpPr>
          <p:cNvPr id="32" name="Text 27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33" name="Text 28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Build AI (Apr 2026); World Labs (Sep 2026); NVIDIA (Mar 2026); PitchBook Q2 2026; company announcements; European Commission (Regulation (EU) 2026/1744).</a:t>
            </a:r>
            <a:endParaRPr lang="en-US" sz="800" dirty="0"/>
          </a:p>
        </p:txBody>
      </p:sp>
      <p:sp>
        <p:nvSpPr>
          <p:cNvPr id="34" name="Text 2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 + Passport: any format in, a per-record verdict and a signed certificate out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stages; every episode gets pass / repair / reject with an evidence trail back to the exact frame and rule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65760" cy="365760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801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240280"/>
            <a:ext cx="132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LeRobot, RLDS, ROS 2 / MCAP, OpenUSD, video, 3D scans. No change to how customers collect.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828800" y="1965960"/>
            <a:ext cx="173736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002536" y="1783080"/>
            <a:ext cx="365760" cy="365760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002536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459736" y="1801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002536" y="2240280"/>
            <a:ext cx="132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VLM + graph models map each frame to kernel concepts: objects, affordances, contacts, task phases.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82696" y="1965960"/>
            <a:ext cx="173736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456432" y="1783080"/>
            <a:ext cx="365760" cy="365760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56432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3913632" y="1801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3456432" y="2240280"/>
            <a:ext cx="132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residuals (kinematic, and dynamic where torque exists) · SMT check against the rulebook · calibrated uncertainty.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36592" y="1965960"/>
            <a:ext cx="173736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4910328" y="1783080"/>
            <a:ext cx="365760" cy="365760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910328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367528" y="1801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10328" y="2240280"/>
            <a:ext cx="132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repair / reject with an evidence subgraph. Valid failures are kept; originals are never overwritten.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190488" y="1965960"/>
            <a:ext cx="173736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64224" y="1783080"/>
            <a:ext cx="365760" cy="365760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64224" y="1783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821424" y="180136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Passport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364224" y="2240280"/>
            <a:ext cx="1325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against kernel version and data hash. Verifiable offline with the public spec and key.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6995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286000"/>
                <a:gridCol w="160020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failure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consistency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Geometry, kinematics, and dynamics residual where τ / contact exist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Residual within calibrated tolerance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Repair: project to nearest feasible record, logged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Logical consistency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SMT (Z3) against kernel axioms Φ over a bounded scene graph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 pass / UNSAT reject / UNKNOWN surfaced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Reject: human review with diagnostic; never silently passed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Uncertainty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Conformal prediction, coverage ≥ 1 − α, reported per group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prediction set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confidence: escalate to a more expensive check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7"/>
          <p:cNvSpPr txBox="1"/>
          <p:nvPr/>
        </p:nvSpPr>
        <p:spPr>
          <a:xfrm>
            <a:off x="548640" y="5669280"/>
            <a:ext cx="6995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rulebook, compiled twice: a differentiable soft constraint for training and a decidable hard check for verification.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7909560" y="1783080"/>
            <a:ext cx="3749040" cy="4160520"/>
          </a:xfrm>
          <a:prstGeom prst="roundRect">
            <a:avLst>
              <a:gd name="adj" fmla="val 1951"/>
            </a:avLst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019288" y="1892808"/>
            <a:ext cx="164592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019288" y="1892808"/>
            <a:ext cx="0" cy="164592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11384280" y="1892808"/>
            <a:ext cx="164592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1548872" y="1892808"/>
            <a:ext cx="0" cy="164592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019288" y="5669280"/>
            <a:ext cx="0" cy="164592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019288" y="5833872"/>
            <a:ext cx="164592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1384280" y="5833872"/>
            <a:ext cx="164592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1548872" y="5669280"/>
            <a:ext cx="0" cy="164592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183880" y="203911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b="1" spc="1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PASSPORT · sample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8183880" y="24048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850" dirty="0"/>
          </a:p>
        </p:txBody>
      </p:sp>
      <p:sp>
        <p:nvSpPr>
          <p:cNvPr id="42" name="Text 39"/>
          <p:cNvSpPr txBox="1"/>
          <p:nvPr/>
        </p:nvSpPr>
        <p:spPr>
          <a:xfrm>
            <a:off x="9235440" y="240487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AX-2027-0412 · kitchen tasks</a:t>
            </a:r>
            <a:endParaRPr lang="en-US" sz="850" dirty="0"/>
          </a:p>
        </p:txBody>
      </p:sp>
      <p:sp>
        <p:nvSpPr>
          <p:cNvPr id="43" name="Text 40"/>
          <p:cNvSpPr txBox="1"/>
          <p:nvPr/>
        </p:nvSpPr>
        <p:spPr>
          <a:xfrm>
            <a:off x="8183880" y="27157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Episodes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9235440" y="27157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12,480 (8,140 real / 4,340 syn.)</a:t>
            </a:r>
            <a:endParaRPr lang="en-US" sz="850" dirty="0"/>
          </a:p>
        </p:txBody>
      </p:sp>
      <p:sp>
        <p:nvSpPr>
          <p:cNvPr id="45" name="Text 42"/>
          <p:cNvSpPr txBox="1"/>
          <p:nvPr/>
        </p:nvSpPr>
        <p:spPr>
          <a:xfrm>
            <a:off x="8183880" y="30266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</a:t>
            </a:r>
            <a:endParaRPr lang="en-US" sz="850" dirty="0"/>
          </a:p>
        </p:txBody>
      </p:sp>
      <p:sp>
        <p:nvSpPr>
          <p:cNvPr id="46" name="Text 43"/>
          <p:cNvSpPr txBox="1"/>
          <p:nvPr/>
        </p:nvSpPr>
        <p:spPr>
          <a:xfrm>
            <a:off x="9235440" y="302666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 · ISO/IEC 21838-4 aligned</a:t>
            </a:r>
            <a:endParaRPr lang="en-US" sz="850" dirty="0"/>
          </a:p>
        </p:txBody>
      </p:sp>
      <p:sp>
        <p:nvSpPr>
          <p:cNvPr id="47" name="Text 44"/>
          <p:cNvSpPr txBox="1"/>
          <p:nvPr/>
        </p:nvSpPr>
        <p:spPr>
          <a:xfrm>
            <a:off x="8183880" y="33375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</a:t>
            </a:r>
            <a:endParaRPr lang="en-US" sz="850" dirty="0"/>
          </a:p>
        </p:txBody>
      </p:sp>
      <p:sp>
        <p:nvSpPr>
          <p:cNvPr id="48" name="Text 45"/>
          <p:cNvSpPr txBox="1"/>
          <p:nvPr/>
        </p:nvSpPr>
        <p:spPr>
          <a:xfrm>
            <a:off x="9235440" y="333756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96.4% frames mapped (audited)</a:t>
            </a:r>
            <a:endParaRPr lang="en-US" sz="850" dirty="0"/>
          </a:p>
        </p:txBody>
      </p:sp>
      <p:sp>
        <p:nvSpPr>
          <p:cNvPr id="49" name="Text 46"/>
          <p:cNvSpPr txBox="1"/>
          <p:nvPr/>
        </p:nvSpPr>
        <p:spPr>
          <a:xfrm>
            <a:off x="8183880" y="364845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9235440" y="364845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99.1% pass · 0.7% fix · 0.2% reject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8183880" y="39593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</a:t>
            </a:r>
            <a:endParaRPr lang="en-US" sz="850" dirty="0"/>
          </a:p>
        </p:txBody>
      </p:sp>
      <p:sp>
        <p:nvSpPr>
          <p:cNvPr id="52" name="Text 49"/>
          <p:cNvSpPr txBox="1"/>
          <p:nvPr/>
        </p:nvSpPr>
        <p:spPr>
          <a:xfrm>
            <a:off x="9235440" y="395935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0.94 coverage, per group</a:t>
            </a:r>
            <a:endParaRPr lang="en-US" sz="850" dirty="0"/>
          </a:p>
        </p:txBody>
      </p:sp>
      <p:sp>
        <p:nvSpPr>
          <p:cNvPr id="53" name="Text 50"/>
          <p:cNvSpPr txBox="1"/>
          <p:nvPr/>
        </p:nvSpPr>
        <p:spPr>
          <a:xfrm>
            <a:off x="8183880" y="42702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rules</a:t>
            </a:r>
            <a:endParaRPr lang="en-US" sz="850" dirty="0"/>
          </a:p>
        </p:txBody>
      </p:sp>
      <p:sp>
        <p:nvSpPr>
          <p:cNvPr id="54" name="Text 51"/>
          <p:cNvSpPr txBox="1"/>
          <p:nvPr/>
        </p:nvSpPr>
        <p:spPr>
          <a:xfrm>
            <a:off x="9235440" y="427024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13482-derived · 0 violations</a:t>
            </a:r>
            <a:endParaRPr lang="en-US" sz="850" dirty="0"/>
          </a:p>
        </p:txBody>
      </p:sp>
      <p:sp>
        <p:nvSpPr>
          <p:cNvPr id="55" name="Text 52"/>
          <p:cNvSpPr txBox="1"/>
          <p:nvPr/>
        </p:nvSpPr>
        <p:spPr>
          <a:xfrm>
            <a:off x="8183880" y="4581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850" dirty="0"/>
          </a:p>
        </p:txBody>
      </p:sp>
      <p:sp>
        <p:nvSpPr>
          <p:cNvPr id="56" name="Text 53"/>
          <p:cNvSpPr txBox="1"/>
          <p:nvPr/>
        </p:nvSpPr>
        <p:spPr>
          <a:xfrm>
            <a:off x="9235440" y="458114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Per-episode hashes · consent</a:t>
            </a:r>
            <a:endParaRPr lang="en-US" sz="850" dirty="0"/>
          </a:p>
        </p:txBody>
      </p:sp>
      <p:sp>
        <p:nvSpPr>
          <p:cNvPr id="57" name="Text 54"/>
          <p:cNvSpPr txBox="1"/>
          <p:nvPr/>
        </p:nvSpPr>
        <p:spPr>
          <a:xfrm>
            <a:off x="8183880" y="48920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map</a:t>
            </a:r>
            <a:endParaRPr lang="en-US" sz="850" dirty="0"/>
          </a:p>
        </p:txBody>
      </p:sp>
      <p:sp>
        <p:nvSpPr>
          <p:cNvPr id="58" name="Text 55"/>
          <p:cNvSpPr txBox="1"/>
          <p:nvPr/>
        </p:nvSpPr>
        <p:spPr>
          <a:xfrm>
            <a:off x="9235440" y="4892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Art. 10 / 12 · GB/Z 218.1</a:t>
            </a:r>
            <a:endParaRPr lang="en-US" sz="850" dirty="0"/>
          </a:p>
        </p:txBody>
      </p:sp>
      <p:sp>
        <p:nvSpPr>
          <p:cNvPr id="59" name="Text 56"/>
          <p:cNvSpPr txBox="1"/>
          <p:nvPr/>
        </p:nvSpPr>
        <p:spPr>
          <a:xfrm>
            <a:off x="8183880" y="520293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</a:t>
            </a:r>
            <a:endParaRPr lang="en-US" sz="850" dirty="0"/>
          </a:p>
        </p:txBody>
      </p:sp>
      <p:sp>
        <p:nvSpPr>
          <p:cNvPr id="60" name="Text 57"/>
          <p:cNvSpPr txBox="1"/>
          <p:nvPr/>
        </p:nvSpPr>
        <p:spPr>
          <a:xfrm>
            <a:off x="9235440" y="52029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2027-04-12 · sha256 9f2c…a41e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10195560" y="5486400"/>
            <a:ext cx="1234440" cy="274320"/>
          </a:xfrm>
          <a:prstGeom prst="roundRect">
            <a:avLst>
              <a:gd name="adj" fmla="val 166667"/>
            </a:avLst>
          </a:prstGeom>
          <a:solidFill>
            <a:srgbClr val="0F8B8D"/>
          </a:solidFill>
          <a:ln w="12700">
            <a:solidFill>
              <a:srgbClr val="0F8B8D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10195560" y="54864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· offline</a:t>
            </a:r>
            <a:endParaRPr lang="en-US" sz="900" dirty="0"/>
          </a:p>
        </p:txBody>
      </p:sp>
      <p:sp>
        <p:nvSpPr>
          <p:cNvPr id="63" name="Text 60"/>
          <p:cNvSpPr txBox="1"/>
          <p:nvPr/>
        </p:nvSpPr>
        <p:spPr>
          <a:xfrm>
            <a:off x="7909560" y="5998464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design example; values illustrate the evidence interface. Real passports on partner data under NDA from Dec 2026.</a:t>
            </a:r>
            <a:endParaRPr lang="en-US" sz="850" dirty="0"/>
          </a:p>
        </p:txBody>
      </p:sp>
      <p:sp>
        <p:nvSpPr>
          <p:cNvPr id="64" name="Text 61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65" name="Text 6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episode’s journey: a rejected variant becomes a new rule, and old data gets more valuable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episode AX-2027-0412: kitchen, place a cup into a dishwasher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47472" cy="347472"/>
          </a:xfrm>
          <a:prstGeom prst="ellipse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scan + teleoperated demo. 12 m² kitchen, 37 objects; consent recorded and hashed with the capture.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419045" y="1828800"/>
            <a:ext cx="347472" cy="347472"/>
          </a:xfrm>
          <a:prstGeom prst="ellipse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419045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2857957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19045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20213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 (graspable, fragile), dishwasher (container, openable); 3 contact events; 4 task phases; 97% of frames mapped.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289450" y="1828800"/>
            <a:ext cx="347472" cy="347472"/>
          </a:xfrm>
          <a:prstGeom prst="ellipse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9450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728362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289450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E1F3F3"/>
          </a:solidFill>
          <a:ln w="6350">
            <a:solidFill>
              <a:srgbClr val="E1F3F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490618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residual within tolerance; SMT against the kernel: SAT; uncertainty 0.03. Verdict: pass, with evidence subgraph.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159856" y="1828800"/>
            <a:ext cx="347472" cy="347472"/>
          </a:xfrm>
          <a:prstGeom prst="ellipse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59856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Augment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159856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361024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generates 5 variants (2 lighting, 2 pose, 1 failure: cup slips). Re-verified one by one: 4 pass, 1 rejected.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030261" y="1828800"/>
            <a:ext cx="347472" cy="347472"/>
          </a:xfrm>
          <a:prstGeom prst="ellipse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30261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69173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Passport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030261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E1F3F3"/>
          </a:solidFill>
          <a:ln w="6350">
            <a:solidFill>
              <a:srgbClr val="E1F3F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31429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real + 4 synthetic episodes written to the passport; exported to LeRobot / RLDS / OpenUSD; signed, offline-verifiable.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900666" y="1828800"/>
            <a:ext cx="347472" cy="347472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900666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339578" y="1847088"/>
            <a:ext cx="128518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9900666" y="2286000"/>
            <a:ext cx="1742389" cy="2148840"/>
          </a:xfrm>
          <a:prstGeom prst="roundRect">
            <a:avLst>
              <a:gd name="adj" fmla="val 4198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101834" y="2450592"/>
            <a:ext cx="1340053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Rejection cause: no friction constraint for wet counters → new axiom, proven before use → targeted re-collection → old datasets re-verified, passport v1.3.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22960" y="4681728"/>
            <a:ext cx="10545775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dash"/>
            <a:headEnd type="triangle"/>
          </a:ln>
        </p:spPr>
      </p:sp>
      <p:sp>
        <p:nvSpPr>
          <p:cNvPr id="36" name="Text 34"/>
          <p:cNvSpPr txBox="1"/>
          <p:nvPr/>
        </p:nvSpPr>
        <p:spPr>
          <a:xfrm>
            <a:off x="822960" y="47548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confirmed failures → new axioms → higher kernel coverage → lower verification cost per hour → collection spent only where the loop points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54864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Once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5669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new concept is axiomatized once, then reused by every episode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333756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$60 → $12 / h</a:t>
            </a:r>
            <a:endParaRPr lang="en-US" sz="2000" dirty="0"/>
          </a:p>
        </p:txBody>
      </p:sp>
      <p:sp>
        <p:nvSpPr>
          <p:cNvPr id="40" name="Text 38"/>
          <p:cNvSpPr txBox="1"/>
          <p:nvPr/>
        </p:nvSpPr>
        <p:spPr>
          <a:xfrm>
            <a:off x="3337560" y="5669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 verification cost, Q4 2026 → 2030 (model target)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612648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 $5 / h</a:t>
            </a:r>
            <a:endParaRPr lang="en-US" sz="2000" dirty="0"/>
          </a:p>
        </p:txBody>
      </p:sp>
      <p:sp>
        <p:nvSpPr>
          <p:cNvPr id="42" name="Text 40"/>
          <p:cNvSpPr txBox="1"/>
          <p:nvPr/>
        </p:nvSpPr>
        <p:spPr>
          <a:xfrm>
            <a:off x="6126480" y="5669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 target for a re-verified synthetic episode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915400" y="51206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v1.2 → v1.3</a:t>
            </a:r>
            <a:endParaRPr lang="en-US" sz="2000" dirty="0"/>
          </a:p>
        </p:txBody>
      </p:sp>
      <p:sp>
        <p:nvSpPr>
          <p:cNvPr id="44" name="Text 42"/>
          <p:cNvSpPr txBox="1"/>
          <p:nvPr/>
        </p:nvSpPr>
        <p:spPr>
          <a:xfrm>
            <a:off x="8915400" y="566928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datasets re-signed as the kernel grows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AXIOMALITY product records. Cost figures are unit-economics model targets (converted at ¥7.2 per USD), not contracted.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mathematically checked rulebook, and a flywheel that makes each hour cheaper than the last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rulebook feeds both the passport and the runtime guardrail; the loop compounds domain knowledge competitors cannot download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86400" cy="694944"/>
          </a:xfrm>
          <a:prstGeom prst="rect">
            <a:avLst/>
          </a:prstGeom>
          <a:solidFill>
            <a:srgbClr val="151A2D"/>
          </a:solidFill>
          <a:ln w="12700">
            <a:solidFill>
              <a:srgbClr val="151A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3794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level · TUpper (ISO/IEC 21838-4:2023)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12264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top-level ontologies with an ISO part (with BFO and DOLCE); our founder is a core contributor. Consistency machine-checked with Prover9 / Mace4.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2551176"/>
            <a:ext cx="5486400" cy="694944"/>
          </a:xfrm>
          <a:prstGeom prst="rect">
            <a:avLst/>
          </a:prstGeom>
          <a:solidFill>
            <a:srgbClr val="232A44"/>
          </a:solidFill>
          <a:ln w="12700">
            <a:solidFill>
              <a:srgbClr val="232A4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0604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world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Objects, parts, shape, measurement, materials, change and process (PSL lineage).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3319272"/>
            <a:ext cx="5486400" cy="694944"/>
          </a:xfrm>
          <a:prstGeom prst="rect">
            <a:avLst/>
          </a:prstGeom>
          <a:solidFill>
            <a:srgbClr val="3A4160"/>
          </a:solidFill>
          <a:ln w="12700">
            <a:solidFill>
              <a:srgbClr val="3A416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337413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Robotics domain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648456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Embodiment, affordances, contact and force events, kinematic chains, task phases, safety rules derived from ISO 10218 / 13482.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8640" y="4087368"/>
            <a:ext cx="5486400" cy="694944"/>
          </a:xfrm>
          <a:prstGeom prst="rect">
            <a:avLst/>
          </a:prstGeom>
          <a:solidFill>
            <a:srgbClr val="E9EBF2"/>
          </a:solidFill>
          <a:ln w="12700">
            <a:solidFill>
              <a:srgbClr val="E9EBF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414223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instances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16552"/>
            <a:ext cx="5120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Episodes, frames, sensors, lineage; exports to OpenUSD / LeRobot / RLDS.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4919472"/>
            <a:ext cx="548640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" y="5084064"/>
            <a:ext cx="50840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rare here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49808" y="5449824"/>
            <a:ext cx="508406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0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few teams can write and machine-verify first-order axiomatizations of process, parts and physical quantities. Applying that to robot data is unusual; VLM labelling, kinematic checks and signed manifests are commodity, and we treat them that way.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loaded verification cost per hour (USD, model target)</a:t>
            </a:r>
            <a:endParaRPr lang="en-US" sz="12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6492240" y="2057400"/>
          <a:ext cx="512064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Shape 19"/>
          <p:cNvSpPr/>
          <p:nvPr/>
        </p:nvSpPr>
        <p:spPr>
          <a:xfrm>
            <a:off x="6492240" y="4480560"/>
            <a:ext cx="5120640" cy="1463040"/>
          </a:xfrm>
          <a:prstGeom prst="roundRect">
            <a:avLst>
              <a:gd name="adj" fmla="val 5000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693408" y="4645152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flywheel turns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6693408" y="5010912"/>
            <a:ext cx="471830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sits in the first verification of a concept, not in repeats. Customer field failures → LLM agents propose candidate rules → provers check them before release → kernel v(n+1) → delivered datasets re-verified and re-signed. Human review shrinks to the reject path; what does not fall (VLM inference, prover time) is priced into the model.</a:t>
            </a:r>
            <a:endParaRPr lang="en-US" sz="9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ISO/IEC 21838-4:2023; ISO/IEC 24707; COLORE (University of Toronto); AXIOMALITY technical papers. Cost curve is a unit-economics target.</a:t>
            </a:r>
            <a:endParaRPr lang="en-US" sz="800" dirty="0"/>
          </a:p>
        </p:txBody>
      </p:sp>
      <p:sp>
        <p:nvSpPr>
          <p:cNvPr id="27" name="Text 2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Validation software for physical AI already earns premium multiples; robot learning has no such layer yet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Wedge into a countable buyer pool, meter by trajectory, then collect a per-robot royalty at fleet scale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Applied Intuition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$15B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603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and validation for AVs; $600M Series F (Jun 2025). Launched Dana for robots (Jul 2026). Proves validation tooling for physical AI is a large, high-margin category.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9884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Foretellix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498848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$135M raised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5603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Coverage-driven verification for AV; NVIDIA and Toyota Woven invested rather than built. Shows the concept, and its limit: AV-only, no per-record certificate.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46720" y="1783080"/>
            <a:ext cx="3566160" cy="1691640"/>
          </a:xfrm>
          <a:prstGeom prst="roundRect">
            <a:avLst>
              <a:gd name="adj" fmla="val 4324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4788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Vanta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47888" y="21488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$4.15B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560320"/>
            <a:ext cx="31638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2 automation; $300M ARR (Apr 2026). The badge buyers demand becomes the product. A passport is the SOC 2 report for a robot dataset.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72237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297680"/>
                <a:gridCol w="14630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Construction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Annual 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Wedge (2027–28)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80–200 U.S./Canadian organizations with recurring robot data × $150k–300k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$12M–60M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(2029–30)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customers × $200k recurring, metered by verified trajectory volume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 ARR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Royalty (2030+)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guardrail per robot per year; China alone forecasts 500k humanoids shipped in 2030, global fleets in the millions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$100M+ incremental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 txBox="1"/>
          <p:nvPr/>
        </p:nvSpPr>
        <p:spPr>
          <a:xfrm>
            <a:off x="8001000" y="3703320"/>
            <a:ext cx="1828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$18.6B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001000" y="43342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Physical-AI venture funding in Q2 2026 alone (PitchBook)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9875520" y="3703320"/>
            <a:ext cx="1828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$47B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875520" y="43342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Physical-AI funding in H1 2026 (Crunchbase)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8001000" y="4846320"/>
            <a:ext cx="1828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150k+ h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54772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AI physical-AI data engine volume, 10 new robotics customers in 2025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9875520" y="4846320"/>
            <a:ext cx="18288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$4.9B → $17.1B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5477256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annotation and training-data market 2025 → 2030 (SCSP)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announcements; PitchBook; Crunchbase; Scale AI; SCSP / ISF Voices 2026; SAG (China humanoid forecast). Market construction is AXIOMALITY’s estimate.</a:t>
            </a:r>
            <a:endParaRPr lang="en-US" sz="800" dirty="0"/>
          </a:p>
        </p:txBody>
      </p:sp>
      <p:sp>
        <p:nvSpPr>
          <p:cNvPr id="28" name="Text 2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sells a signed, per-record certificate for robot data; the ingredients are commoditizing, the referee is not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Complements: collection, curation, simulation, runtime safety. Credible threats: NVIDIA adding a manifest; labs staying in-house.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441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417320"/>
                <a:gridCol w="1874520"/>
                <a:gridCol w="1508760"/>
                <a:gridCol w="1325880"/>
                <a:gridCol w="1737360"/>
                <a:gridCol w="107899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Collection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Curation / tools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 / world models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safety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Certification bodies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AXIOMALITY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Formal rulebook, machine-checked consistent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Per-record physics + logic + uncertainty checks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Signed certificate, verifiable offline by anyone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Cross-embodiment schema (semantic reuse)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pack mapped to EU Art. 10/12 and China GB/Z 218.1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rulebook compiled to a runtime guardrail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○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AI, Mecka, Build AI, XDOF, Human Archive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Foxglove, Encord, Voxel51, Rerun, NVIDIA Cosmos Evaluator (free scoring), Applied Intuition Dana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Cosmos, World Labs Atlas, Lightwheel, Genesis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3Laws, RoboGuard, NVIDIA Halos 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NVIDIA Halos Inspection Lab (ANAB, TÜV/UL), Pebblous (KR), CR data-set certification (CN)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Kernel + Engine + Passport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present   ◐ partial   ○ absent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49808" y="51480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 NVIDIA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5513832"/>
            <a:ext cx="31638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Evaluator scores plausibility for free but is unsigned, non-formal and tied to the NVIDIA stack; Halos certifies compute and safety. We are the neutral signer at the task-semantics level, on any stack.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297680" y="4983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498848" y="51480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 in-house pipelines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4498848" y="5513832"/>
            <a:ext cx="31638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PI, Figure and DeepMind curate internally. The passport wins where there is information asymmetry: vendors selling to labs, OEMs selling into regulated markets, buyers wanting an independent re-check. Labs are the channel.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8046720" y="4983480"/>
            <a:ext cx="3566160" cy="1143000"/>
          </a:xfrm>
          <a:prstGeom prst="roundRect">
            <a:avLst>
              <a:gd name="adj" fmla="val 6400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47888" y="51480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vs. tooling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8247888" y="5513832"/>
            <a:ext cx="3163824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Foxglove, Rerun and LeRobot are where the data lives; we ship as their “verified” badge, not a replacement. The spec is public; the proven domain rulebook and the signer’s track record do not travel.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company announcements and press (2025–26); NVIDIA (Mar and Jun 2026); DreamVu 2026 landscape. Positioning is AXIOMALITY’s assessment.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Pilot, then annual deployment, then a per-robot royalty from the same rulebook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bookings, commitments, credits and cash; cohort math below is the sizing example, not a forecast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Paid pilot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48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$25k–50k, 8–12 weeks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514600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task family, one embodiment, fixed data and acceptance criteria. Blinded baselines; the pilot fee credits against year one.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133088" y="2651760"/>
            <a:ext cx="146304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97680" y="17830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9884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Annual deployment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148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$120k–240k per year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514600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connectors, recurring checks, evidence packs per release; implementation scoped separately. Metered by verified trajectories as volume grows.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7882128" y="2651760"/>
            <a:ext cx="146304" cy="0"/>
          </a:xfrm>
          <a:prstGeom prst="line">
            <a:avLst/>
          </a:prstGeom>
          <a:noFill/>
          <a:ln w="15875">
            <a:solidFill>
              <a:srgbClr val="C8123F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8046720" y="1783080"/>
            <a:ext cx="3566160" cy="1783080"/>
          </a:xfrm>
          <a:prstGeom prst="roundRect">
            <a:avLst>
              <a:gd name="adj" fmla="val 4103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47888" y="1947672"/>
            <a:ext cx="31638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Runtime guardrail royalty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14884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robot per year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2514600"/>
            <a:ext cx="316382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rulebook, precompiled for millisecond checks; gated behind latency and false-block tests on target hardware. Outside the initial cohort model.</a:t>
            </a:r>
            <a:endParaRPr lang="en-US" sz="9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57607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188720"/>
                <a:gridCol w="22860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Sizing cohort (midpoint)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Interpretation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pilots × $40,000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$400,000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bookings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annual × $180,000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first-year credits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credits × $20,000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−$80,000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Avoid double counting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software commitment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$640,000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contracted year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Combined bookings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$1,040,000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Pilots + net software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583680" y="3794760"/>
            <a:ext cx="502920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784848" y="3959352"/>
            <a:ext cx="4626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 ROI and expansion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6784848" y="4325112"/>
            <a:ext cx="46268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baseline: 600 review hours a month × $150 = $1.08M of annual review capacity; a 40% reduction releases $432k against a $180k first-year purchase, before the customer’s own integration and compute. Renewal is the proof, not the model.</a:t>
            </a:r>
            <a:endParaRPr lang="en-US" sz="9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endParaRPr lang="en-US" sz="9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Expansion path inside one account: one dataset → every release → a second embodiment → runtime. Gross margin target 80%+ once verification runs in the customer’s environment and compute is theirs.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AXIOMALITY pricing and cohort model; all figures are sizing examples, not contracted.</a:t>
            </a:r>
            <a:endParaRPr lang="en-US" sz="800" dirty="0"/>
          </a:p>
        </p:txBody>
      </p:sp>
      <p:sp>
        <p:nvSpPr>
          <p:cNvPr id="25" name="Text 22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buyers own a recurring data decision; the pilot is designed to be falsifiable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Founder-led U.S. and Canadian sales; we pre-register the comparison and keep negative results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694944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325880"/>
                <a:gridCol w="2743200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Buyer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 owner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Initial deliverable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workflow examples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supplier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operations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Repeatable customer acceptance; a passport that raises sale price or shortens buyer review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Scale, Mecka, Human Archive, Build AI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 OEM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Autonomy / quality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Failure-linked regression evidence; audit pack for EU shipments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Agility / GXO, Sanctuary / Magna, Vention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developer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Robot-learning lead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 acceptance and diagnostics on mixed real / synthetic data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Physical Intelligence, Figure, Generalist, Dyna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Industrial integrator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Engineering / quality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Application-specific test evidence for a named cell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Universal Robots ecosystem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783080"/>
            <a:ext cx="3886200" cy="2331720"/>
          </a:xfrm>
          <a:prstGeom prst="roundRect">
            <a:avLst>
              <a:gd name="adj" fmla="val 3137"/>
            </a:avLst>
          </a:prstGeom>
          <a:solidFill>
            <a:srgbClr val="151A2D"/>
          </a:solidFill>
          <a:ln w="6350">
            <a:solidFill>
              <a:srgbClr val="151A2D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73568" y="1947672"/>
            <a:ext cx="3483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Pilot design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973568" y="2313432"/>
            <a:ext cx="348386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batch through four baselines: the customer’s scripts, simple rules, VLM + rules, full Engine. Expert ground truth built independently; natural and injected errors reported separately.</a:t>
            </a:r>
            <a:endParaRPr lang="en-US" sz="9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Acceptance: critical false-accepts, good-data false-rejects, unknown rate, review hours per 1,000 episodes, end-to-end time.</a:t>
            </a:r>
            <a:endParaRPr lang="en-US" sz="950" dirty="0"/>
          </a:p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keeps a blind held-out set; model, compute and data budget are fixed.</a:t>
            </a:r>
            <a:endParaRPr lang="en-US" sz="95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343400"/>
          <a:ext cx="694944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3017520"/>
              </a:tblGrid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pilot shows…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We…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 rules match the full Engine at equal cost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Narrow to the error classes rules miss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account needs heavy redesign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Shrink the task domain, price as a service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Augmentation adds no real-world lift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Recalibrate the generator and the mixture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tail latency fails acceptance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 the module offline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beats every baseline and the customer renews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team, scenes and channels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4343400"/>
            <a:ext cx="3886200" cy="1600200"/>
          </a:xfrm>
          <a:prstGeom prst="roundRect">
            <a:avLst>
              <a:gd name="adj" fmla="val 4571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973568" y="4507992"/>
            <a:ext cx="34838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one number we run on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7973568" y="4873752"/>
            <a:ext cx="348386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trajectory hours certified per quarter. Every revenue line sits downstream of it; it measures supply (throughput), demand (who pays for a passport) and quality (what passes) at once.</a:t>
            </a:r>
            <a:endParaRPr lang="en-US" sz="95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AXIOMALITY pilot plan (Sep 2026); public workflow examples from company announcements.</a:t>
            </a:r>
            <a:endParaRPr lang="en-US" sz="800" dirty="0"/>
          </a:p>
        </p:txBody>
      </p:sp>
      <p:sp>
        <p:nvSpPr>
          <p:cNvPr id="15" name="Text 11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exists today is assets and relationships; what we will prove in 90 days is three things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target carries a date; at least one named design partner moves to “achieved” before the round closes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E1F3F3"/>
          </a:solidFill>
          <a:ln w="6350">
            <a:solidFill>
              <a:srgbClr val="E1F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Achieved</a:t>
            </a:r>
            <a:endParaRPr lang="en-US" sz="14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920240"/>
            <a:ext cx="329184" cy="32918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49808" y="2377440"/>
            <a:ext cx="31638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kernel: axioms machine-checked consistent, aligned with ISO/IEC 21838-4 (TUpper / COLORE lineage)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100,000 measured 3D packages; room-level reconstruction and object-level 3D annotation stack (9 invention applications)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spatial app live on Apple Vision Pro; 13 granted patents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Beijing International Big Data Exchange data-broker license (China channel)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relationships: an international law firm (clause mapping), a Big Four firm (audit-pack review), multinational medical-device and pharma companies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297680" y="17830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5604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progress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920240"/>
            <a:ext cx="329184" cy="32918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98848" y="2377440"/>
            <a:ext cx="31638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Engine, internal test Q4 2026: ingest → scene graph → SMT check → Passport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v1 for home scenes; connectors for LeRobot v3, RLDS, OpenUSD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Co-development and channel talks with humanoid OEMs and platform / OS companies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8046720" y="1783080"/>
            <a:ext cx="3566160" cy="3383280"/>
          </a:xfrm>
          <a:prstGeom prst="roundRect">
            <a:avLst>
              <a:gd name="adj" fmla="val 2162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705088" y="1947672"/>
            <a:ext cx="27066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90 days (committed)</a:t>
            </a:r>
            <a:endParaRPr lang="en-US" sz="14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1920240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247888" y="2377440"/>
            <a:ext cx="3163824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blind benchmark: 200 DROID + 200 LeRobot episodes with 7 injected error classes; Engine vs. rules + VLM baseline; per-class recall and cost per hour; a third party holds the injection key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named design partner (data supplier or OEM) running real passports on their own data under NDA</a:t>
            </a:r>
            <a:endParaRPr lang="en-US" sz="950" dirty="0"/>
          </a:p>
          <a:p>
            <a:pPr marL="177800" indent="-1778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Passport spec, public key and CLI verifier with a passport for one open dataset: tamper it, and the verifier fails</a:t>
            </a:r>
            <a:endParaRPr lang="en-US" sz="9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94415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2377440"/>
                <a:gridCol w="2651760"/>
                <a:gridCol w="2286000"/>
                <a:gridCol w="2496312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Dated targets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 2027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Q2 2027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 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A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Milestone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co-development partners; 10,000 verified episodes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Passport v1 recognized by one assessment body or standards organization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cumulative paying customers; 2 renewals or expansions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Audit packs delivered before EU Annex I applies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36576" marB="36576" anchor="ctr">
                    <a:lnL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8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2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48640" y="6199632"/>
            <a:ext cx="101800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AXIOMALITY records (available on request). Targets are plans, not contracts.</a:t>
            </a:r>
            <a:endParaRPr lang="en-US" sz="800" dirty="0"/>
          </a:p>
        </p:txBody>
      </p:sp>
      <p:sp>
        <p:nvSpPr>
          <p:cNvPr id="20" name="Text 1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812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30352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us: we co-wrote the standard, we proved it consistent, and we have run a $50M-revenue company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Ontology and standards, AI algorithms, perception and robotics, simulation and 3D assets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669280" cy="4160520"/>
          </a:xfrm>
          <a:prstGeom prst="roundRect">
            <a:avLst>
              <a:gd name="adj" fmla="val 1758"/>
            </a:avLst>
          </a:prstGeom>
          <a:solidFill>
            <a:srgbClr val="151A2D"/>
          </a:solidFill>
          <a:ln w="6350">
            <a:solidFill>
              <a:srgbClr val="151A2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49808" y="1947672"/>
            <a:ext cx="5266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Founder &amp; CEO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286000"/>
            <a:ext cx="53035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Standards: core contributor to ISO/IEC 21838-4 (TUpper top-level ontology); member of the Industrial Ontologies Foundry; University of Toronto AI doctorate and researcher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Science: formal ontology and knowledge representation, consistency proofs and model construction for first-order axiom systems, trustworthy neuro-symbolic AI; 21 papers, FOIS best-paper award, invited AAAI talk, one English-language monograph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Operating: founding team of a cross-border DTC platform backed by Accel and others ($5M angel), &gt;$50M revenue in year one, 100+ person team; co-founded a recommendation-systems company incubated at Toronto and Imperial</a:t>
            </a:r>
            <a:endParaRPr lang="en-US" sz="1050" dirty="0"/>
          </a:p>
          <a:p>
            <a:pPr marL="177800" indent="-177800">
              <a:lnSpc>
                <a:spcPct val="110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computing: founded a spatial-computing company, one of the first AR apps on Apple Vision Pro; 13 granted patents, ¥24M patent transfer, ¥10M technology license; prior VC diligence experience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492240" y="17830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693408" y="1947672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CTO &amp; Chief Scientist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693408" y="2313432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 University AI doctorate; former AI algorithm scientist at a top-tier tech company and startup chief scientist; first place, Canadian AI academic and industrial applications competition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492240" y="2852928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693408" y="3017520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Perception &amp; Robotics Lead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693408" y="3383280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Harbin Institute of Technology doctorate in mechatronics; former AI algorithm engineer and director of the perception center at XPeng; 10+ papers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492240" y="3922776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F3F4F8"/>
          </a:solidFill>
          <a:ln w="6350">
            <a:solidFill>
              <a:srgbClr val="F3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93408" y="4087368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Simulation &amp; 3D Assets Lead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693408" y="4453128"/>
            <a:ext cx="471830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as art director in games and stage production; led the digital (VR) reconstruction of 1750 Beijing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92240" y="502920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FBE7EC"/>
          </a:solidFill>
          <a:ln w="6350">
            <a:solidFill>
              <a:srgbClr val="FBE7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93408" y="5193792"/>
            <a:ext cx="4718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Hiring with this round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93408" y="5559552"/>
            <a:ext cx="4718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spcAft>
                <a:spcPts val="400"/>
              </a:spcAft>
              <a:buNone/>
            </a:pPr>
            <a:r>
              <a:rPr lang="en-US" sz="950" dirty="0">
                <a:solidFill>
                  <a:srgbClr val="1B1F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robot-learning scientist who has trained VLA policies at scale (owns the benchmark and training-lift experiments); a U.S.-based founding GTM lead for data suppliers and OEMs.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  ·  Seed deck  ·  September 2026  ·  Confidential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51A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029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AXIOMALITY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 format for robot data will decide</a:t>
            </a:r>
            <a:endParaRPr lang="en-US" sz="28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it is measured, priced and traded.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300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raising a seed round to turn a verified rulebook into the reference implementation: public spec, offline-verifiable passports, no customer data ownership, no foundation model of our own.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3611880"/>
            <a:ext cx="5120640" cy="2377440"/>
          </a:xfrm>
          <a:prstGeom prst="roundRect">
            <a:avLst>
              <a:gd name="adj" fmla="val 3077"/>
            </a:avLst>
          </a:prstGeom>
          <a:solidFill>
            <a:srgbClr val="232A44"/>
          </a:solidFill>
          <a:ln w="12700">
            <a:solidFill>
              <a:srgbClr val="232A4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100" b="1" spc="200" kern="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Raising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023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2800" b="1" dirty="0">
                <a:solidFill>
                  <a:srgbClr val="C8123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$4–6M seed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4617720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5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to the 18-month plan with a collection buffer (amount is this revision’s suggestion; founders to confirm). Use: core product 45%, independent validation and benchmarks 25%, U.S. GTM and design partners 20%, operations 10%.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035040" y="3657600"/>
            <a:ext cx="347472" cy="347472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36576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3611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0–3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92240" y="3886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slice: one task, one connector, public benchmark, reproducible evidence package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35040" y="4462272"/>
            <a:ext cx="347472" cy="347472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35040" y="44622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441655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4–9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69087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paid validation engagements; all implementation and review effort recorded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35040" y="5266944"/>
            <a:ext cx="347472" cy="347472"/>
          </a:xfrm>
          <a:prstGeom prst="ellipse">
            <a:avLst/>
          </a:prstGeom>
          <a:solidFill>
            <a:srgbClr val="C8123F"/>
          </a:solidFill>
          <a:ln w="12700">
            <a:solidFill>
              <a:srgbClr val="C8123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5266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52212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Months 10–18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54955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D9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cumulative customers, two renewals or expansions; second embodiment reused without kernel edits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1264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1050" i="1" dirty="0">
                <a:solidFill>
                  <a:srgbClr val="C9CD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help now: lead the round; introduce one data supplier and one OEM; bring your own data and get a real passport under NDA in a 12-minute session.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442655" y="647395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8000"/>
              </a:lnSpc>
              <a:spcAft>
                <a:spcPts val="300"/>
              </a:spcAft>
              <a:buNone/>
            </a:pPr>
            <a:r>
              <a:rPr lang="en-US" sz="900" dirty="0">
                <a:solidFill>
                  <a:srgbClr val="9AA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AXIOMALITY ·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AXIOMALITY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AXIOMALITY seed deck</dc:title>
  <dc:subject/>
  <dc:creator>AXIOMALITY</dc:creator>
  <cp:lastModifiedBy>AXIOMALITY</cp:lastModifiedBy>
  <cp:revision>1</cp:revision>
  <dcterms:created xsi:type="dcterms:W3CDTF">2026-09-25T11:19:16Z</dcterms:created>
  <dcterms:modified xsi:type="dcterms:W3CDTF">2026-09-25T11:19:16Z</dcterms:modified>
</cp:coreProperties>
</file>
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30-second open: robot data is now bought and sold, and almost none of it is inspected by a neutral party. We are the inspection layer. The prototype runs today; slide 5 has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inspect robot training data</a:t>
            </a:r>
            <a:endParaRPr lang="en-US" sz="2800" dirty="0"/>
          </a:p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labs pay for it,</a:t>
            </a:r>
            <a:endParaRPr lang="en-US" sz="2800" dirty="0"/>
          </a:p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sign the result.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C9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inspection record a lab accepts at intake: a verdict per episode, a reason for every reject, and a signed passport anyone can verify offline. Prototype runs on public data; no customers yet.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2651760" cy="329184"/>
          </a:xfrm>
          <a:prstGeom prst="roundRect">
            <a:avLst>
              <a:gd name="adj" fmla="val 138889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4805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· see slide 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35240" y="1619060"/>
            <a:ext cx="4197096" cy="2705481"/>
          </a:xfrm>
          <a:prstGeom prst="rect">
            <a:avLst/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8" name="Image 0" descr="/home/user/ipython/axiomality/prototype/figures/passport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728788"/>
            <a:ext cx="3977640" cy="24860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61906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35240" y="1619060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31168" y="161906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32336" y="1619060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5240" y="4123373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35240" y="4324541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31168" y="4324541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832336" y="4123373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4379405"/>
            <a:ext cx="4197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prototype output: a signed passport over synthetic episodes seeded from the company’s measured scan geometry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51206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52120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real episodes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155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across DROID and two other public datasets; found a stuck arm, an over-limit joint, a mis-documented field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337560" y="51206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37560" y="52120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3337560" y="58155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 covered value and verification fails (demo key today)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26480" y="51206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26480" y="52120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6126480" y="58155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verify with a public key, no call to us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915400" y="51206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15400" y="52120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VPC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8915400" y="58155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runs where the data lives; we never hold 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 buy robot data blind; vendors can’t prove what they sold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today is a sample video and a spot check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39112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04872"/>
            <a:ext cx="28895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 fleets, data factories and synthetic generators sell hours at $50–200/h. Good vendors can’t prove they are better than bad ones.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351215" y="18745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52383" y="2039112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52383" y="2404872"/>
            <a:ext cx="28895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foundation-model teams pay by the hour, then discover problems during training, weeks later and after the compute is spent.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69080" y="1874520"/>
            <a:ext cx="4053535" cy="1463040"/>
          </a:xfrm>
          <a:prstGeom prst="roundRect">
            <a:avLst>
              <a:gd name="adj" fmla="val 5000"/>
            </a:avLst>
          </a:prstGeom>
          <a:solidFill>
            <a:srgbClr val="FBE7EC"/>
          </a:solidFill>
          <a:ln w="12700">
            <a:solidFill>
              <a:srgbClr val="C8123F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251960" y="2057400"/>
            <a:ext cx="3687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Missing: an inspection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468880"/>
            <a:ext cx="3687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per-episode verdict · no reason for a reject · no record both sides trust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58768" y="2606040"/>
            <a:ext cx="182880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40903" y="2606040"/>
            <a:ext cx="182880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8640" y="3749040"/>
            <a:ext cx="2651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799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visual-AI teams blame data for model failures (Voxel51, 2026)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749040"/>
            <a:ext cx="2651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58,000+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43799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on the LeRobot hub; none validated or signed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749040"/>
            <a:ext cx="2651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$50–200 / h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3799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 data, sold with no record of what is usable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3749040"/>
            <a:ext cx="2651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43799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visual-AI teams cite data-quality problems (Voxel51, 2026)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193792"/>
            <a:ext cx="1069207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is not exotic: mislabeled objects, phases out of order, a gripper that “grasps” while open, objects that teleport or float, clocks that run backwards. Rule scripts catch the easy half. The other half needs to know what the scene means.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Voxel51 State of Visual AI (2026); Hugging Face (May 2026); DreamVu, Robot Training Data Companies: The 2026 Landscape; Open X-Embodiment (2023).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2026 robot data became a traded commodity, with no inspector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are scaling, generators are flooding training, and buyers are writing big checks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 scaled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395728"/>
            <a:ext cx="31638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physical-AI engine past 150k hours; neutrality questioned after Meta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Mecka: ~$500M round in talks (Sep 2026)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XDOF: ~$1.2B valuation (Sep 2026)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AI: ~1M hours of factory video released free (Apr 2026)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5604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Generators arrived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8848" y="2395728"/>
            <a:ext cx="31638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Labs’ Atlas (Sep 2026) turns phone video into robot-camera data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NVIDIA’s data-factory blueprint scores generated clips for free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synthetic data means more data entering training that no one inspected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46720" y="17830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70508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 are spending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2024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47888" y="2395728"/>
            <a:ext cx="31638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$18.6B physical-AI venture funding in Q2 2026 alone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Intelligence (~$11B), Skild ($14B), Generalist ($3B), Figure ($39B) spend heavily on data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hypothesis: buyers want a neutral referee at intake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is a later tailwind, not the reason: EU AI Act obligations for AI embedded in machinery apply from 2 Aug 2028 (Reg. 2026/1744).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Scale AI; press reports on Mecka and XDOF (Sep 2026); Build AI (Apr 2026); World Labs (Sep 2026); NVIDIA (Mar 2026); PitchBook Q2 2026; company announcements.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Episodes in; a verdict per episode and a signed passport out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 families. On today's public data only the first runs fully; next, we derive object state from video so the other two run on real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48256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record intact?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258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clocks, dropped frames, NaNs, joint limits, required metadata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19202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do this; so do we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0837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8620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motion possible?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3218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Interpenetration, unsupported objects, teleports, gripper-to-object distance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28803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scene geometry and relations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story contradict itself?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4178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Task-phase order, gripper state vs contact events, object class vs affordance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5303520" y="38404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F4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rulebook proven contradiction-free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67665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291840"/>
                <a:gridCol w="26060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checks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Billable and trainable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Correctable recording defect (e.g., timestamps out of order)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derived version; original kept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Violates a rule; frame and rule ID attached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to the vendor as a re-collect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needed for the check are missing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 exactly what is missing; never counted as a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7635240" y="1828800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36408" y="1993392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failures are kept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836408" y="2359152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cup that really slips is valuable failure data, not bad data. We never rewrite a real failure into a success.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635240" y="3218688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836408" y="3383280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Signed, offline-verifiable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7836408" y="3749040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passport binds the data hash and rulebook version. Seller, buyer or anyone else verifies with a public key.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635240" y="4608576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836408" y="4773168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in your environment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7836408" y="5138928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customer’s VPC. We ship the engine and the rulebook; we never own the data.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REAL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real DROID data: a stuck arm, a mis-documented field, a possible arm mismatch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script find these? Yes. We add doing it on every batch, signing the result, and listing what we could not check. 41 episodes from DROID, Jaco Play, NYU ROT.</a:t>
            </a:r>
            <a:endParaRPr lang="en-US" sz="1250" dirty="0"/>
          </a:p>
        </p:txBody>
      </p:sp>
      <p:pic>
        <p:nvPicPr>
          <p:cNvPr id="5" name="Image 0" descr="/home/user/ipython/axiomality/prototype/figures/real_finding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0512"/>
            <a:ext cx="676656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810512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99248" y="197510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 arm / frozen stream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699248" y="2340864"/>
            <a:ext cx="3758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DROID ep. 3, frames 19–33: the commanded joint position moves (median 0.133 rad) while the measured joints stay bit-identical; frames 43–49 are duplicated rows. A policy trained on it learns that commands do nothing.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98080" y="3182112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99248" y="334670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past its limit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699248" y="3712464"/>
            <a:ext cx="3758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DROID ep. 1, frames 141–172: joint 6 reaches 3.959 rad, 207 mrad past the Panda datasheet limit. It may be an FR3 (limit 4.52 rad); the passport records that ambiguity.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98080" y="4553712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99248" y="471830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doesn’t match its docs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699248" y="5084064"/>
            <a:ext cx="3758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DROID’s action field is documented as six joint velocities; in all 2,551 frames it equals the commanded Cartesian pose. 8 of 14 episodes carry no language instruction.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85232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43000"/>
                <a:gridCol w="594360"/>
                <a:gridCol w="548640"/>
                <a:gridCol w="548640"/>
                <a:gridCol w="1188720"/>
                <a:gridCol w="128016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Episodes / frames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checked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DROID (Franka)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/ 2,551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Timing, semantic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offline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 Play (Kinova)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/ 879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Timing, semantic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offline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NYU ROT (xArm)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/ 440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Timing, semantic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offline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public data (OXE public bucket). *Accept covers checkable families only: these datasets record no timestamps or object state. On DROID the structural baseline agrees with the engine on 8 of 14 accept/reject calls; the stuck-arm and joint-limit episodes are ones DROID itself labels as failures.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SYNTHETIC BENCHMARK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are copyable; a neutral, signed record is not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synthetic data, 3 task variants, 20 per error class; no checker reads the injection key; precision 1.00 for all three</a:t>
            </a:r>
            <a:endParaRPr lang="en-US" sz="1250" dirty="0"/>
          </a:p>
        </p:txBody>
      </p:sp>
      <p:pic>
        <p:nvPicPr>
          <p:cNvPr id="5" name="Image 0" descr="/home/user/ipython/axiomality/prototype/figures/benchmark_v2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0512"/>
            <a:ext cx="6309360" cy="256286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98848"/>
          <a:ext cx="7223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00200"/>
                <a:gridCol w="1600200"/>
                <a:gridCol w="1645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AXIOMALITY engine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strong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(afternoon)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rejects (140 clean)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Out-of-order clocks restored exactly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/ 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(discarded)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(discarded)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inputs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episode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001000" y="1810512"/>
            <a:ext cx="3657600" cy="1307592"/>
          </a:xfrm>
          <a:prstGeom prst="roundRect">
            <a:avLst>
              <a:gd name="adj" fmla="val 5594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02168" y="1975104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don’t hide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02168" y="2340864"/>
            <a:ext cx="32552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8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strong baseline, written after the engine, matches its recall. Knowing what to check is not a moat: any team that knows the error list can write the checks.</a:t>
            </a:r>
            <a:endParaRPr lang="en-US" sz="880" dirty="0"/>
          </a:p>
        </p:txBody>
      </p:sp>
      <p:sp>
        <p:nvSpPr>
          <p:cNvPr id="10" name="Shape 6"/>
          <p:cNvSpPr/>
          <p:nvPr/>
        </p:nvSpPr>
        <p:spPr>
          <a:xfrm>
            <a:off x="8001000" y="3227832"/>
            <a:ext cx="3657600" cy="1307592"/>
          </a:xfrm>
          <a:prstGeom prst="roundRect">
            <a:avLst>
              <a:gd name="adj" fmla="val 5594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02168" y="3392424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engine still wins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02168" y="3758184"/>
            <a:ext cx="32552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8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 detection: sinks from 25 mm (baseline 40 mm), post-release jumps from 30 mm (baseline 60 mm). Exact repair of out-of-order clocks. UNKNOWN instead of false rejects. Every verdict cites a versioned, hash-bound rule.</a:t>
            </a:r>
            <a:endParaRPr lang="en-US" sz="880" dirty="0"/>
          </a:p>
        </p:txBody>
      </p:sp>
      <p:sp>
        <p:nvSpPr>
          <p:cNvPr id="13" name="Shape 9"/>
          <p:cNvSpPr/>
          <p:nvPr/>
        </p:nvSpPr>
        <p:spPr>
          <a:xfrm>
            <a:off x="8001000" y="4645152"/>
            <a:ext cx="3657600" cy="1307592"/>
          </a:xfrm>
          <a:prstGeom prst="roundRect">
            <a:avLst>
              <a:gd name="adj" fmla="val 5594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02168" y="4809744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where is the moat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202168" y="5175504"/>
            <a:ext cx="32552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8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 issuer, re-checkable verdicts, passports that verify offline, and an error library that grows across customers: things no single buyer or seller builds for itself.</a:t>
            </a:r>
            <a:endParaRPr lang="en-US" sz="88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prototype, synthetic data; the same team wrote the injector, the engine and the baselines. Full results and code: prototype/results/benchmark_v2.md, reproducible in one command.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Versioned, hash-bound, consistency-checked rules: anyone can re-derive a verdict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VLM judge gives you a plausibility score. We give you a trail anyone can re-check.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658368"/>
          </a:xfrm>
          <a:prstGeom prst="rect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37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level · TUpper (ISO/IEC 21838-4:2023)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21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three top-level ontologies with an ISO part, alongside BFO and DOLCE; our founder is a core contributor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486400" cy="658368"/>
          </a:xfrm>
          <a:prstGeom prst="rect">
            <a:avLst/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69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world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52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parts, shape, measurement, materials, process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486400" cy="658368"/>
          </a:xfrm>
          <a:prstGeom prst="rect">
            <a:avLst/>
          </a:prstGeom>
          <a:solidFill>
            <a:srgbClr val="3A4160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009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manipulation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84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Affordances, contact events, task phases, joint limits, object permanence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86400" cy="658368"/>
          </a:xfrm>
          <a:prstGeom prst="rect">
            <a:avLst/>
          </a:prstGeom>
          <a:solidFill>
            <a:srgbClr val="E9EBF2"/>
          </a:solidFill>
          <a:ln w="12700">
            <a:solidFill>
              <a:srgbClr val="E9EB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32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episodes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Frames, sensors, lineage; LeRobot / RLDS / MCAP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9194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Rulebook self-check (in the prototype)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285232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rules: 24 proven jointly consistent with Z3 on a bounded 14-frame model (one success, one slip); 9 are decided by Z3 per episode on synthetic data; 6 are numeric. Real-data mode runs numeric checks only today.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83080"/>
          <a:ext cx="51663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64592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judge / learned scorer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AXIOMALITY 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score per clip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/ repair / reject / unknown per episode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index + rule ID + evidence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Re-checkable by a third party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Re-runnable with the same weights; no rule-level reason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same rulebook + data hash reproduce the 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inputs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returns a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“unknown” and lists what is missing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Improves by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a rule, proven consistent before release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492240" y="475488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93408" y="4919472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error library we keep (planned, not in the prototype)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693408" y="5285232"/>
            <a:ext cx="4764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cluster into candidate rules; each is proven consistent with the rest before release, and older batches are re-verified. The moat hypothesis: the rulebook stays consistent and citable at hundreds of rules across task families.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ISO/IEC 21838-4:2023; ISO/IEC 24707 (Common Logic); COLORE, University of Toronto; Z3.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scores data; we found no one signing neutral per-episode verdicts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signs per-episode physics and logic checks for robot data. The tools where data lives are our rails, not rivals.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035040" cy="3931920"/>
          </a:xfrm>
          <a:prstGeom prst="rect">
            <a:avLst/>
          </a:prstGeom>
          <a:solidFill>
            <a:srgbClr val="FAFAFC"/>
          </a:solidFill>
          <a:ln w="9525">
            <a:solidFill>
              <a:srgbClr val="D5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874520"/>
            <a:ext cx="0" cy="3931920"/>
          </a:xfrm>
          <a:prstGeom prst="line">
            <a:avLst/>
          </a:prstGeom>
          <a:noFill/>
          <a:ln w="9525">
            <a:solidFill>
              <a:srgbClr val="D5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840480"/>
            <a:ext cx="6035040" cy="0"/>
          </a:xfrm>
          <a:prstGeom prst="line">
            <a:avLst/>
          </a:prstGeom>
          <a:noFill/>
          <a:ln w="9525">
            <a:solidFill>
              <a:srgbClr val="D5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874520"/>
            <a:ext cx="3017520" cy="1965960"/>
          </a:xfrm>
          <a:prstGeom prst="rect">
            <a:avLst/>
          </a:prstGeom>
          <a:solidFill>
            <a:srgbClr val="E1F3F3"/>
          </a:solidFill>
          <a:ln w="12700">
            <a:solidFill>
              <a:srgbClr val="E1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Signed, re-checkable evidence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613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or vendor-run  ←→  Neutral third party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03197" y="4632350"/>
            <a:ext cx="146304" cy="146304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3509" y="457748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Cosmos Evaluator (free)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4160520"/>
            <a:ext cx="146304" cy="146304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96312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Intuition Dana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61795" y="5182819"/>
            <a:ext cx="146304" cy="146304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72107" y="512795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Instance, Shotwell (YC)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78992" y="3767328"/>
            <a:ext cx="146304" cy="146304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9304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self-QA (Scale, Mecka)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0016" y="4081882"/>
            <a:ext cx="146304" cy="146304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30168" y="426476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Pebblous (KR) data certification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99693" y="2980944"/>
            <a:ext cx="146304" cy="146304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10005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in-house pipelines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78501" y="2463394"/>
            <a:ext cx="237744" cy="237744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245425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86600" y="1874520"/>
            <a:ext cx="4572000" cy="1243584"/>
          </a:xfrm>
          <a:prstGeom prst="roundRect">
            <a:avLst>
              <a:gd name="adj" fmla="val 5882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87768" y="2039112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NVIDIA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87768" y="2404872"/>
            <a:ext cx="4169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Evaluator scores plausibility; it does not sign, does not give rule-level reasons, and lives in one stack. A stack vendor cannot credibly be the neutral referee. We take its score as one input.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86600" y="3227832"/>
            <a:ext cx="4572000" cy="1243584"/>
          </a:xfrm>
          <a:prstGeom prst="roundRect">
            <a:avLst>
              <a:gd name="adj" fmla="val 5882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87768" y="3392424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in-house QA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287768" y="3758184"/>
            <a:ext cx="4169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QA needs no signature today. It does once one intake gate must hold vendor, in-house and synthetic data to one standard. That gate is where we aim; vendors are the first door.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86600" y="4581144"/>
            <a:ext cx="4572000" cy="1243584"/>
          </a:xfrm>
          <a:prstGeom prst="roundRect">
            <a:avLst>
              <a:gd name="adj" fmla="val 5882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87768" y="4745736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Rails, not rivals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287768" y="5111496"/>
            <a:ext cx="4169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Foxglove, Rerun and the LeRobot hub are where data lives. The passport ships as their “verified” badge.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is AXIOMALITY’s assessment from public product documentation (2025–26).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 pay per certified dataset; buyers verify for free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scales with robot-data volume that changes hands, not with consulting hours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47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pilot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$25k–50k · 8–12 weeks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60320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vendor, one task family, their own batch; blind bake-off against their current scripts; credited to year 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947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certified hour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5–8% of data price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560320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pays to ship with a passport; buyer verifies free with the public key, which pulls the next vendor 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947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In-VPC license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560320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vendors and labs run the engine in their own environment with rulebook updates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= robot data changing hands × inspection take rate (model)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00200"/>
                <a:gridCol w="1325880"/>
                <a:gridCol w="960120"/>
                <a:gridCol w="822960"/>
                <a:gridCol w="1143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traded / 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spend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rate*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revenue pool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Today’s pace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$100/h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$100/h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+ real, 2030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real + 100M synthetic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$100/h real, $5/h synthetic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092440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93608" y="395935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venture scale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293608" y="4325112"/>
            <a:ext cx="31638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inspection of traded data alone is a $5–120M pool. Venture scale needs the intake gate for all training data, in-house and synthetic included; the lab bake-off tests exactly that. Later: the same passport becomes OEM compliance evidence (EU 2028).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not a forecast. Inputs: ~10M-hour industry estimate of data needed; teleop pricing $50–200/h (DreamVu); Scale 150k+ h (2025). *Take rates are hypotheses the pilots test; synthetic volume is an assumption.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challenger vendors who need to beat Scale on trust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is the vendor’s head of data ops; the proof is a blind bake-off on their own batch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accounts (not customers)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they need a passport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Mecka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Teleop data vendor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fast; needs to prove quality to lab buyers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XDOF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 + teleop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Selling to labs at a $1.2B valuation; trust is the 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Egocentric 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data needs a quality story to monetize premium tiers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Archive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Egocentric data vendor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Seed-stage; differentiation against larger suppliers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Lightwheel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/ sim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 needs independent acceptance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 buying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developer intake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passports at intake; verification is 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83080"/>
            <a:ext cx="4069080" cy="2788920"/>
          </a:xfrm>
          <a:prstGeom prst="roundRect">
            <a:avLst>
              <a:gd name="adj" fmla="val 2623"/>
            </a:avLst>
          </a:prstGeom>
          <a:solidFill>
            <a:srgbClr val="151A2D"/>
          </a:solidFill>
          <a:ln w="6350">
            <a:solidFill>
              <a:srgbClr val="151A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90688" y="1947672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bake-off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90688" y="2313432"/>
            <a:ext cx="3666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batch through four baselines: the vendor’s scripts, simple rules, VLM + rules, our engine.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ground truth built independently; the customer holds a blind set.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critical false-accepts, good-data false-rejects, unknown rate, review hours per 1,000 episodes.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simple rules match us, we narrow to the error classes they miss.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589520" y="470916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90688" y="4873752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flip the buyer side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90688" y="5239512"/>
            <a:ext cx="3666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one lab accepts passports at intake, every vendor selling to that lab has a reason to ship with one.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are targets chosen from public information; none is a customer or partner today.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built, and three things you can check by Dec 31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this slide can be demonstrated live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377440"/>
            <a:ext cx="31638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data: 41 episodes, 3,870 frames from DROID, Jaco Play and NYU ROT; in DROID it found a stuck arm, an over-limit joint and a mis-documented action field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synthetic benchmark: 92% recall, 0 false rejects; ties our own strong baseline, which could close the remaining detail gaps in about a day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passport for every real dataset, verified offline; change any field and it fails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reproduces everything (run_v2.py)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5604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8848" y="2377440"/>
            <a:ext cx="31638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knowledge kernel: formal axioms built on the ISO/IEC 21838-4 top-level ontology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measured 3D asset packages from a prior spatial-computing company, proof we can capture and annotate real geometry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granted patents; consumer spatial app shipped on Apple Vision Pro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04672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70508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Dec 31, 2026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2024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47888" y="2377440"/>
            <a:ext cx="31638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paid pilot or signed LOI with a data vendor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lab’s written intake requirement to accept passports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on DROID / LeRobot data against a strong hand-written baseline and Cosmos Evaluator; a third party holds the key. If our margin is under 10 points, we narrow to the error classes rules miss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code and results are in the data room and can be run in one command.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write machine-checked rulebooks, and have shipped at scale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methods, applied AI, robot perception and 3D capture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160520"/>
          </a:xfrm>
          <a:prstGeom prst="roundRect">
            <a:avLst>
              <a:gd name="adj" fmla="val 1758"/>
            </a:avLst>
          </a:prstGeom>
          <a:solidFill>
            <a:srgbClr val="151A2D"/>
          </a:solidFill>
          <a:ln w="6350">
            <a:solidFill>
              <a:srgbClr val="151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47672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&amp; CEO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contributor to ISO/IEC 21838-4, the TUpper top-level ontology; member of the Industrial Ontologies Foundry; University of Toronto AI doctorate and researcher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proofs and model construction for first-order axiom systems; 21 papers, invited AAAI talk, one English-language monograph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 of a cross-border DTC company backed by Accel and others: &gt;$50M revenue in year one, 100+ people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a spatial-computing company with one of the first AR apps on Apple Vision Pro; 13 granted patents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93408" y="194767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CTO &amp; Chief Scientist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693408" y="2313432"/>
            <a:ext cx="4718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McMaster University AI doctorate; former AI scientist at a top-tier tech company and startup chief scientist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2852928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301752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&amp; Robotics Lead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93408" y="3383280"/>
            <a:ext cx="4718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Harbin Institute of Technology doctorate in mechatronics; former director of the perception center at XPeng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392277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4087368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Capture &amp; Simulation Lead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4453128"/>
            <a:ext cx="4718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as art director in games and stage production; led a city-scale VR reconstruction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50292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519379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now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93408" y="555955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robot-learning lead who has trained VLA policies at scale, and a U.S. founding GTM lead for data vendors.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  ·  September 2026  ·  Confidential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robot dataset that changes hands</a:t>
            </a:r>
            <a:endParaRPr lang="en-US" sz="32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ships with a passport.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ship with passports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3063240"/>
            <a:ext cx="384048" cy="384048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accept them at intake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3063240"/>
            <a:ext cx="384048" cy="384048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suppliers certify every generated episode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3063240"/>
            <a:ext cx="384048" cy="384048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reuse them as compliance evidence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25196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3444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intros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robot-data vendor and one lab procurement lead, for a blind bake-off on their own batch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97680" y="40690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425196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8348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minutes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498848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any of our episodes yourself; watch the verdict, then the passport, change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046720" y="40690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425196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73252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 31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8247888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three commitments on slide 11, one by one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442655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AXIOMALITY ·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AXIOMALITY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AXIOMALITY</dc:title>
  <dc:subject/>
  <dc:creator>AXIOMALITY</dc:creator>
  <cp:lastModifiedBy>AXIOMALITY</cp:lastModifiedBy>
  <cp:revision>1</cp:revision>
  <dcterms:created xsi:type="dcterms:W3CDTF">2026-09-26T07:28:36Z</dcterms:created>
  <dcterms:modified xsi:type="dcterms:W3CDTF">2026-09-26T07:28:36Z</dcterms:modified>
</cp:coreProperties>
</file>
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元 / 小时</c:v>
                </c:pt>
              </c:strCache>
            </c:strRef>
          </c:tx>
          <c:spPr>
            <a:solidFill>
              <a:srgbClr val="C8123F"/>
            </a:solidFill>
            <a:ln w="31750" cap="flat">
              <a:solidFill>
                <a:srgbClr val="C812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8123F"/>
              </a:solidFill>
              <a:ln w="9525" cap="flat">
                <a:solidFill>
                  <a:srgbClr val="C812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 Q4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430</c:v>
                </c:pt>
                <c:pt idx="1">
                  <c:v>245</c:v>
                </c:pt>
                <c:pt idx="2">
                  <c:v>145</c:v>
                </c:pt>
                <c:pt idx="3">
                  <c:v>105</c:v>
                </c:pt>
                <c:pt idx="4">
                  <c:v>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2A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出货集中度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23F"/>
              </a:solidFill>
              <a:effectLst/>
            </c:spPr>
          </c:dPt>
          <c:dPt>
            <c:idx val="1"/>
            <c:bubble3D val="0"/>
            <c:spPr>
              <a:solidFill>
                <a:srgbClr val="E9EBF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宇树 + 智元</c:v>
                </c:pt>
                <c:pt idx="1">
                  <c:v>其他厂商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Microsoft YaHei"/>
              </a:defRPr>
            </a:pPr>
            <a:r>
              <a:rPr sz="1100" b="0" i="0" u="none" strike="noStrike">
                <a:solidFill>
                  <a:srgbClr val="1B1F2A"/>
                </a:solidFill>
                <a:latin typeface="Microsoft YaHei"/>
              </a:rPr>
              <a:t>分产品收入（百万元，示意）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认证证据</c:v>
                </c:pt>
              </c:strCache>
            </c:strRef>
          </c:tx>
          <c:spPr>
            <a:solidFill>
              <a:srgbClr val="C812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15</c:v>
                </c:pt>
                <c:pt idx="2">
                  <c:v>35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引擎站内部署</c:v>
                </c:pt>
              </c:strCache>
            </c:strRef>
          </c:tx>
          <c:spPr>
            <a:solidFill>
              <a:srgbClr val="151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25</c:v>
                </c:pt>
                <c:pt idx="3">
                  <c:v>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语义护栏授权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20</c:v>
                </c:pt>
                <c:pt idx="3">
                  <c:v>70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评测套件</c:v>
                </c:pt>
              </c:strCache>
            </c:strRef>
          </c:tx>
          <c:spPr>
            <a:solidFill>
              <a:srgbClr val="D98E0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10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秒：我们做的是具身智能数据的质检与认证层。输入任何格式的机器人数据，输出逐条裁决和一张可离线验证的数据护照。创始人是 ISO 顶层本体标准的核心作者。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让每一条机器人训练数据</a:t>
            </a:r>
            <a:endParaRPr lang="en-US" sz="3600" dirty="0"/>
          </a:p>
          <a:p>
            <a:pPr algn="l"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可核验、可认证、可入表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具身智能数据的核验引擎（Engine）与数据护照（Passport）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Pre-A 融资路演稿  ·  2026 年 10 月  ·  保密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0" y="1234440"/>
            <a:ext cx="4069080" cy="2377440"/>
          </a:xfrm>
          <a:prstGeom prst="rect">
            <a:avLst/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7" name="Image 0" descr="/tmp/claude-0/-home-user-ipython/dfd014c8-a0a0-5393-8a9f-8ba86b471611/scratchpad/src/media_cn/cov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755648"/>
            <a:ext cx="3794760" cy="13350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123444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1234440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457432" y="123444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1234440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3410712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361188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457432" y="3611880"/>
            <a:ext cx="201168" cy="0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58600" y="3410712"/>
            <a:ext cx="0" cy="201168"/>
          </a:xfrm>
          <a:prstGeom prst="line">
            <a:avLst/>
          </a:prstGeom>
          <a:noFill/>
          <a:ln w="19050">
            <a:solidFill>
              <a:srgbClr val="C812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89520" y="36758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实测样本 429：PLY 点云与三维标注框（真实数据）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983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ISO/IEC 21838-4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41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顶层本体 TUpper 核心贡献者创办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337560" y="48920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4983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万条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3337560" y="5641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实测三维数据包（照片 · USDZ · PLY · JSON）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26480" y="48920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26480" y="4983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+ 9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6126480" y="5641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授权专利 + 发明专利申请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915400" y="4892040"/>
            <a:ext cx="2468880" cy="0"/>
          </a:xfrm>
          <a:prstGeom prst="line">
            <a:avLst/>
          </a:prstGeom>
          <a:noFill/>
          <a:ln w="9525">
            <a:solidFill>
              <a:srgbClr val="3A416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915400" y="4983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8915400" y="5641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核验引擎内测；2027 年首批付费客户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机器人数据的「质检 + 护照」：一个引擎，两个产品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输入任何格式的机器人轨迹与场景数据，输出逐条裁决、可离线验签的数据护照，以及可按台预装的语义护栏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4767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13432"/>
            <a:ext cx="3026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LeRobot · RLDS · ROS 2 / MCAP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OpenUSD · 视频 · 3D 扫描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真机、遥操作、仿真、部署日志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50792" y="2404872"/>
            <a:ext cx="265176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89120" y="17830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51A2D"/>
          </a:solidFill>
          <a:ln w="6350">
            <a:solidFill>
              <a:srgbClr val="151A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194767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Engine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313432"/>
            <a:ext cx="3026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接地 → 物理 / 逻辑 / 不确定度三重核验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 / 修复 / 拒判，附依据子图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91272" y="2404872"/>
            <a:ext cx="265176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17830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30768" y="194767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313432"/>
            <a:ext cx="3026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数据护照（签名证书 · 离线可验）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训练就绪数据集 + 评测套件 + 审计包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语义护栏（运行时，按台预装）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4100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5D8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07008" y="3456432"/>
            <a:ext cx="455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我们卖什么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822192"/>
            <a:ext cx="500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楔子产品：认证证据项目（护照 + 审计包，按数据集 30–80 万元）→ 引擎站内年费（50–200 万元）→ 语义护栏按台授权（100–300 元 / 台 / 年）。同一内核，三级扩展。</a:t>
            </a:r>
            <a:endParaRPr lang="en-US" sz="10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38144"/>
            <a:ext cx="329184" cy="32918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233008" y="3291840"/>
            <a:ext cx="54100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5D8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91376" y="3456432"/>
            <a:ext cx="455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卖给谁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34176" y="3822192"/>
            <a:ext cx="500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拟上市与出海的整机厂（训练与合规团队）、国家级训练场与数据商（要把数据卖出价、挂牌上架）、具身大脑与世界模型公司（合成数据需要核验与来源记录）。</a:t>
            </a:r>
            <a:endParaRPr lang="en-US" sz="10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38144"/>
            <a:ext cx="329184" cy="32918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48640" y="4754880"/>
            <a:ext cx="54100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5D8E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207008" y="4919472"/>
            <a:ext cx="455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49808" y="5285232"/>
            <a:ext cx="500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原始小时数价格归零（免费视频已出现）；世界模型把未经核验的合成数据推入训练；GB/Z 218.1、YD/T 6770 落地，数据入表与欧盟附录 I（2028-08）要求逐条证据。</a:t>
            </a:r>
            <a:endParaRPr lang="en-US" sz="10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01184"/>
            <a:ext cx="329184" cy="32918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233008" y="4754880"/>
            <a:ext cx="54100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5D8E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891376" y="4919472"/>
            <a:ext cx="455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为什么是我们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6434176" y="5285232"/>
            <a:ext cx="500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全球少数写过 ISO 顶层本体公理并做过机器一致性证明的团队；已有 10 万条实测三维数据、13 项专利、北数所数据经纪商资质；创始人曾把一家公司做到年收入 5,000 万美元。</a:t>
            </a:r>
            <a:endParaRPr lang="en-US" sz="10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痛点不是「数据不够」，而是「没有一条数据能证明可用」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三类买家，三种今天就在花钱却解决不了的问题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2788920"/>
          </a:xfrm>
          <a:prstGeom prst="roundRect">
            <a:avLst>
              <a:gd name="adj" fmla="val 2623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947672"/>
            <a:ext cx="26557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整机厂 · 训练团队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13432"/>
            <a:ext cx="311292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真机数据市场价 500–1,000 元 / 小时，废数据多、有效率低；换一台机器人，动作层复用率 ≈ 0，需要重采、重标、重验。训练失败后，没有逐条证据说明错在哪一帧、违反了哪条规则。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9384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9808" y="3858768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i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「同一批数据，训练成功率忽高忽低，我们只能靠人肉抽查。」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8218" y="1783080"/>
            <a:ext cx="3515258" cy="2788920"/>
          </a:xfrm>
          <a:prstGeom prst="roundRect">
            <a:avLst>
              <a:gd name="adj" fmla="val 2623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96586" y="1947672"/>
            <a:ext cx="26557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训练场 · 数据商 · 交易所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39386" y="2313432"/>
            <a:ext cx="311292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 64 座数采中心 / 训练场（27 城）；上海训练场累计 100 万+ 条真机数据。但 2026-09 媒体已报道数采中心「批量露馅」：数据无效、无人买单；交易所无法定价、无法上架，卖方只能自证。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192938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39386" y="3858768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i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「不是没有数据，是没有人能给数据出一份别人认的质检报告。」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27797" y="1783080"/>
            <a:ext cx="3515258" cy="2788920"/>
          </a:xfrm>
          <a:prstGeom prst="roundRect">
            <a:avLst>
              <a:gd name="adj" fmla="val 2623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786165" y="1947672"/>
            <a:ext cx="26557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CFO · 合规 · 出海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328965" y="2313432"/>
            <a:ext cx="311292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数据资产入表（2024-01 施行）要求质量与来源证据；欧盟附录 I 自 2028-08-02 起要求机器人训练数据可追溯、可审计；现有形式是文档自述与日志抽样，机器无法逐条校验。</a:t>
            </a:r>
            <a:endParaRPr lang="en-US" sz="10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192938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8965" y="3858768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i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「拟上市和出海都要证据，我们现在拿不出机器可校验的东西。」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80060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500–1,000 元 / 小时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40410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真机数据市场报价；有效率无人担保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3337560" y="480060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0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3337560" y="540410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动作层跨本体的直接复用率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6126480" y="480060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座 · 100 万+ 条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6126480" y="540410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数采中心数量 · 上海训练场存量，尚无核验与上架规范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8915400" y="480060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个月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8915400" y="540410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距欧盟附录 I 对机器人生效（2028-08-02）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来源：澎湃新闻《具身智能带火了数据采集生意》（2026）；虎嗅《遍地开花的数采中心，开始批量露馅》（2026-09-20）；国地中心；财政部；欧盟委员会（Regulation (EU) 2026/1744）。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行业转折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原始小时数正在归零，价值迁移到「证据」这一层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当视频和原始轨迹按小时免费供给，仍有毛利的只剩语义、核验与认证；证据格式将成为具身数据的计量与交易单位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371600" y="1783080"/>
            <a:ext cx="4023360" cy="713232"/>
          </a:xfrm>
          <a:prstGeom prst="rect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8562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856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审计包、上架与入表证据；监管方与交易所采信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2606040"/>
            <a:ext cx="4572000" cy="713232"/>
          </a:xfrm>
          <a:prstGeom prst="rect">
            <a:avLst/>
          </a:prstGeom>
          <a:solidFill>
            <a:srgbClr val="A61A3F"/>
          </a:solidFill>
          <a:ln w="12700">
            <a:solidFill>
              <a:srgbClr val="A61A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6791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物理、逻辑、不确定度是否自洽；逐条裁决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5120640" cy="713232"/>
          </a:xfrm>
          <a:prstGeom prst="rect">
            <a:avLst/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5021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5021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发生了什么：对象、可供性、接触、任务阶段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669280" cy="713232"/>
          </a:xfrm>
          <a:prstGeom prst="rect">
            <a:avLst/>
          </a:prstGeom>
          <a:solidFill>
            <a:srgbClr val="E9EBF2"/>
          </a:solidFill>
          <a:ln w="12700">
            <a:solidFill>
              <a:srgbClr val="E9EB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3251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原始小时数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43251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未接地的轨迹与视频：2024 年 50–200 美元 / 小时 → 2026 年趋近于零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越往上越稀缺、越难替代；带护照数据在数据商侧定价 1,000–3,000 元 / 小时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0749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743200"/>
                <a:gridCol w="1005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原始数据价格下行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遥操作 50–200 美元 / 小时（2024）→ 数采工厂约 140 美元（2025）→ 原始工厂视频免费开放（2026）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DreamVu；投资界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质量压倒规模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精选 500 条示范微调 7B 模型，优于以粗糙数据训练的 70B 模型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 of Robotics 2026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泛化来自覆盖度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对环境–物体 × 50 条示范即可在新环境达到约 90% 成功率；同一场景重复一千次不提升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 等（2024）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合规成为准入条件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欧盟附录 I 自 2028-08-02 适用于机器人；GB/Z 218.1—2026 与 YD/T 6770—2026 落地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欧盟委员会；信标委；工信部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537960" y="48920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39128" y="5056632"/>
            <a:ext cx="4672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结论：数据商与实验室为语义和覆盖度付费，交易所与监管方为核验和认证付费。谁定义证据格式，谁就定义交易单位。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来源：State of Robotics 2026；DreamVu《Robot Training Data Companies: The 2026 Landscape》（2026-08）；Lin 等《Data Scaling Laws in Imitation Learning》（2024）。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 + Passport：任意格式进，逐条裁决与护照出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五步流水线；每条轨迹得到通过 / 修复 / 拒判三种裁决之一，并附可回溯到具体公理与帧的依据子图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01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LeRobot、RLDS、ROS 2 / MCAP、OpenUSD、视频、3D 扫描；不要求客户改变采集方式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965960"/>
            <a:ext cx="173736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02536" y="1783080"/>
            <a:ext cx="365760" cy="365760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02536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59736" y="1801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02536" y="224028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视觉语言模型 + 图网络把每一帧映射到内核概念：对象、可供性、接触、任务阶段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82696" y="1965960"/>
            <a:ext cx="173736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56432" y="1783080"/>
            <a:ext cx="365760" cy="365760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6432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1801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56432" y="224028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物理残差（PINN / 神经算子）· SMT 对照内核公理 · 符合性预测校准不确定度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36592" y="1965960"/>
            <a:ext cx="173736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10328" y="1783080"/>
            <a:ext cx="365760" cy="365760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032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67528" y="1801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10328" y="224028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/ 修复 / 拒判，附依据子图；有效失败保留，原始记录不可覆盖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90488" y="1965960"/>
            <a:ext cx="173736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64224" y="1783080"/>
            <a:ext cx="365760" cy="365760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64224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21424" y="1801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64224" y="224028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私钥签名、绑定内核版本与数据哈希；公开规范 + 公钥即可离线验证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6995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1508760"/>
                <a:gridCol w="2286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校验层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失败处理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物理一致性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PINN / 神经算子残差代理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残差在阈值内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修复：投影到最近的可满足解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逻辑一致性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SMT（Z3）对照内核公理 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SAT 通过 / UNSAT 拒判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拒判：转人工复核，出具诊断报告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不确定度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符合性预测，覆盖率 ≥ 1 − α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落在预测集内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越界即低置信，触发硬核验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5349240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同一公理集一次编译为两种形式：训练时作为可微的软约束，推理时作为可判定的一致性校验。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909560" y="178308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19288" y="1892808"/>
            <a:ext cx="164592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19288" y="1892808"/>
            <a:ext cx="0" cy="164592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384280" y="1892808"/>
            <a:ext cx="164592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548872" y="1892808"/>
            <a:ext cx="0" cy="164592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19288" y="5669280"/>
            <a:ext cx="0" cy="164592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19288" y="5833872"/>
            <a:ext cx="164592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384280" y="5833872"/>
            <a:ext cx="164592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548872" y="5669280"/>
            <a:ext cx="0" cy="164592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18388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b="1" spc="1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PASSPORT · 数据护照（样例）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8183880" y="2404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914400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AX-2027-0412 · 厨房操作任务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8183880" y="2715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轨迹数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914400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12,480 条 · 真机 8,140 / 仿真 4,340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8183880" y="3026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内核版本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9144000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v1.2 · 对齐 ISO/IEC 21838-4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8183880" y="3337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语义覆盖度</a:t>
            </a:r>
            <a:endParaRPr lang="en-US" sz="850" dirty="0"/>
          </a:p>
        </p:txBody>
      </p:sp>
      <p:sp>
        <p:nvSpPr>
          <p:cNvPr id="48" name="Text 45"/>
          <p:cNvSpPr txBox="1"/>
          <p:nvPr/>
        </p:nvSpPr>
        <p:spPr>
          <a:xfrm>
            <a:off x="91440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96.4% 的帧已接地（经抽检）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8183880" y="3648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物理一致性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9144000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99.1% 通过 · 0.7% 修复 · 0.2% 拒判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8183880" y="3959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不确定度校准</a:t>
            </a:r>
            <a:endParaRPr lang="en-US" sz="850" dirty="0"/>
          </a:p>
        </p:txBody>
      </p:sp>
      <p:sp>
        <p:nvSpPr>
          <p:cNvPr id="52" name="Text 49"/>
          <p:cNvSpPr txBox="1"/>
          <p:nvPr/>
        </p:nvSpPr>
        <p:spPr>
          <a:xfrm>
            <a:off x="914400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符合性预测覆盖率 0.94（分组报告）</a:t>
            </a:r>
            <a:endParaRPr lang="en-US" sz="850" dirty="0"/>
          </a:p>
        </p:txBody>
      </p:sp>
      <p:sp>
        <p:nvSpPr>
          <p:cNvPr id="53" name="Text 50"/>
          <p:cNvSpPr txBox="1"/>
          <p:nvPr/>
        </p:nvSpPr>
        <p:spPr>
          <a:xfrm>
            <a:off x="8183880" y="4270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安全规则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914400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13482 约束集 · 放行 0 违规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8183880" y="4581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来源溯源</a:t>
            </a:r>
            <a:endParaRPr lang="en-US" sz="850" dirty="0"/>
          </a:p>
        </p:txBody>
      </p:sp>
      <p:sp>
        <p:nvSpPr>
          <p:cNvPr id="56" name="Text 53"/>
          <p:cNvSpPr txBox="1"/>
          <p:nvPr/>
        </p:nvSpPr>
        <p:spPr>
          <a:xfrm>
            <a:off x="9144000" y="4581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同意书与采集链逐条哈希存证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8183880" y="4892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监管映射</a:t>
            </a:r>
            <a:endParaRPr lang="en-US" sz="850" dirty="0"/>
          </a:p>
        </p:txBody>
      </p:sp>
      <p:sp>
        <p:nvSpPr>
          <p:cNvPr id="58" name="Text 55"/>
          <p:cNvSpPr txBox="1"/>
          <p:nvPr/>
        </p:nvSpPr>
        <p:spPr>
          <a:xfrm>
            <a:off x="914400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欧盟第 10 / 12 条 · GB/Z 218.1</a:t>
            </a:r>
            <a:endParaRPr lang="en-US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8183880" y="5202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</a:t>
            </a:r>
            <a:endParaRPr lang="en-US" sz="850" dirty="0"/>
          </a:p>
        </p:txBody>
      </p:sp>
      <p:sp>
        <p:nvSpPr>
          <p:cNvPr id="60" name="Text 57"/>
          <p:cNvSpPr txBox="1"/>
          <p:nvPr/>
        </p:nvSpPr>
        <p:spPr>
          <a:xfrm>
            <a:off x="9144000" y="5202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2027-04-12 · sha256 9f2c…a41e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966960" y="5486400"/>
            <a:ext cx="1463040" cy="274320"/>
          </a:xfrm>
          <a:prstGeom prst="roundRect">
            <a:avLst>
              <a:gd name="adj" fmla="val 166667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966960" y="5486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 · 离线可验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7909560" y="5998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字段取值为样例；2026 年 12 月起可在保密协议下以评审方自带数据生成实际护照。</a:t>
            </a:r>
            <a:endParaRPr lang="en-US" sz="85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一条轨迹的旅程：失效样本变成新公理，存量数据随之升值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示例轨迹 AX-2027-0412：厨房，将杯子放入洗碗机（字段为产品设计样例）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" cy="34747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847088"/>
            <a:ext cx="128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742389" cy="2057400"/>
          </a:xfrm>
          <a:prstGeom prst="roundRect">
            <a:avLst>
              <a:gd name="adj" fmla="val 4198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450592"/>
            <a:ext cx="134005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手机三层扫描 + 遥操作示范；房间几何 12 m²、物体 37 件；同意书随采集记录并哈希存证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9045" y="1828800"/>
            <a:ext cx="347472" cy="34747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19045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57957" y="1847088"/>
            <a:ext cx="128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19045" y="2286000"/>
            <a:ext cx="1742389" cy="2057400"/>
          </a:xfrm>
          <a:prstGeom prst="roundRect">
            <a:avLst>
              <a:gd name="adj" fmla="val 4198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20213" y="2450592"/>
            <a:ext cx="134005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对象：杯子（可抓取、易碎）、洗碗机（容器、可开合）；接触事件 3 次；任务阶段 4 段；帧覆盖度 97%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89450" y="1828800"/>
            <a:ext cx="347472" cy="34747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8945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28362" y="1847088"/>
            <a:ext cx="128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89450" y="2286000"/>
            <a:ext cx="1742389" cy="2057400"/>
          </a:xfrm>
          <a:prstGeom prst="roundRect">
            <a:avLst>
              <a:gd name="adj" fmla="val 4198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90618" y="2450592"/>
            <a:ext cx="134005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物理残差通过；SMT 对照内核公理为 SAT；不确定度 0.03；裁决：通过，附依据子图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59856" y="1828800"/>
            <a:ext cx="347472" cy="34747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59856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98768" y="1847088"/>
            <a:ext cx="128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59856" y="2286000"/>
            <a:ext cx="1742389" cy="2057400"/>
          </a:xfrm>
          <a:prstGeom prst="roundRect">
            <a:avLst>
              <a:gd name="adj" fmla="val 4198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1024" y="2450592"/>
            <a:ext cx="134005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数字孪生生成 5 条变体（光照 2、位姿 2、失效 1：杯子滑落）；逐条再核验：4 条通过、1 条拒判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30261" y="1828800"/>
            <a:ext cx="347472" cy="34747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30261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69173" y="1847088"/>
            <a:ext cx="128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30261" y="2286000"/>
            <a:ext cx="1742389" cy="2057400"/>
          </a:xfrm>
          <a:prstGeom prst="roundRect">
            <a:avLst>
              <a:gd name="adj" fmla="val 4198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31429" y="2450592"/>
            <a:ext cx="134005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 1 条 + 仿真 4 条写入护照；导出 LeRobot / RLDS / OpenUSD；签名离线可验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900666" y="1828800"/>
            <a:ext cx="347472" cy="347472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00666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339578" y="1847088"/>
            <a:ext cx="128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900666" y="2286000"/>
            <a:ext cx="1742389" cy="2057400"/>
          </a:xfrm>
          <a:prstGeom prst="roundRect">
            <a:avLst>
              <a:gd name="adj" fmla="val 4198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01834" y="2450592"/>
            <a:ext cx="1340053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拒判原因：湿滑台面缺少摩擦约束 → 新增公理 → 采集清单补采湿滑场景 → 旧数据集重新核验，护照升级 v1.3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4617720"/>
            <a:ext cx="10545775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dash"/>
            <a:headEnd type="triangle"/>
          </a:ln>
        </p:spPr>
      </p:sp>
      <p:sp>
        <p:nvSpPr>
          <p:cNvPr id="36" name="Text 34"/>
          <p:cNvSpPr txBox="1"/>
          <p:nvPr/>
        </p:nvSpPr>
        <p:spPr>
          <a:xfrm>
            <a:off x="822960" y="468172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回流：失效案例 → 新公理 → 核验覆盖度上升 → 每小时核验成本下降 → 采集只花在回流指定的新场景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074920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每个概念只公理化一次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650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此后所有轨迹复用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337560" y="5074920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430 → 85 元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3337560" y="5650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每小时核验数据全负担成本（2026 Q4 → 2030，模型值）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126480" y="5074920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35 元 / 小时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6126480" y="5650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仿真扩展轨迹的边际成本目标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915400" y="5074920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v1.2 → v1.3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8915400" y="5650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已交付数据集随内核升级重新签发护照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来源：AXIOMALITY 产品记录；成本为单位经济模型的目标值，未签约。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壁垒：经机器证明一致的知识内核，加一个越用越便宜的飞轮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左：内核是护栏与护照的共同源头；右：失效回流让核验成本随覆盖度单调下降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658368"/>
          </a:xfrm>
          <a:prstGeom prst="rect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37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 · TUpper（ISO/IEC 21838-4:2023）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122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国际正式承认的三大顶层本体之一（与 BFO、DOLCE 并列）；团队参与制定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486400" cy="658368"/>
          </a:xfrm>
          <a:prstGeom prst="rect">
            <a:avLst/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69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 · 物理世界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43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物体、部件、形状、度量、材料、变化、过程（PSL）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486400" cy="658368"/>
          </a:xfrm>
          <a:prstGeom prst="rect">
            <a:avLst/>
          </a:prstGeom>
          <a:solidFill>
            <a:srgbClr val="3A4160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009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领域层 · 机器人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753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本体、可供性、接触与力事件、运动链、任务阶段、ISO 10218 / 13482 安全约束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86400" cy="658368"/>
          </a:xfrm>
          <a:prstGeom prst="rect">
            <a:avLst/>
          </a:prstGeom>
          <a:solidFill>
            <a:srgbClr val="E9EBF2"/>
          </a:solidFill>
          <a:ln w="12700">
            <a:solidFill>
              <a:srgbClr val="E9EB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32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· 轨迹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3068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轨迹、帧、传感器、血缘；导出 OpenUSD / LeRobot / RLDS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54864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全部公理经机器证明无矛盾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Prover9 定理证明 + Mace4 模型构造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可扩展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新机器人、传感器、任务与法规作为模块加载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表示定理保证模块保结构合并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可判定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每条轨迹的接地结果可在运行时校验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SMT（Z3）对照公理求解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每小时核验数据全负担成本（元，目标路径）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92240" y="2057400"/>
          <a:ext cx="51206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6"/>
          <p:cNvSpPr/>
          <p:nvPr/>
        </p:nvSpPr>
        <p:spPr>
          <a:xfrm>
            <a:off x="6492240" y="448056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93408" y="464515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飞轮如何转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693408" y="5010912"/>
            <a:ext cx="4718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成本集中于概念的首次核验而非重复核验：每个新物体、新可供性、新失效模式只公理化一次。客户回传的部署失效 → LLM 智能体提出候选公理 → Prover9 / Mace4 把关 → 内核 v(n+1) → 旧数据集重新核验、护照升级。数据资产随内核成长增值，原始小时数则持续折旧。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来源：ISO/IEC 21838-4:2023；ISO/IEC 24707；NIST IR 8530（2024）；AXIOMALITY 技术论文；成本曲线为单位经济模型的目标值。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竞争：还没有人在卖「逐条机器可校验、可离线验签」的数据证据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采集、仿真、工具、安全层是互补方；真正的潜在对手是标准归口与认证机构、训练场自建质检，以及 NVIDIA 的免费评分器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737360"/>
                <a:gridCol w="1874520"/>
                <a:gridCol w="1325880"/>
                <a:gridCol w="1600200"/>
                <a:gridCol w="10789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 / 数采工厂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仿真 · 世界模型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 · 评测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运行时安全层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标准与认证机构（中国）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AXIOMALITY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形式化本体（ISO 血统）、机器证明一致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 + 逻辑 + 不确定度逐条核验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签名证书，公开规范 + 公钥离线可验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跨本体统一模式（语义层复用）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 / 审计包（对齐国标与欧盟条款）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同一内核供运行时护栏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智元数采、帕西尼、京东、Build AI、Mecka、Scale AI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光轮智能、松应 ORCA、群核 SpatialVerse、NVIDIA Cosmos、World Labs Atlas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Cosmos Evaluator（免费物理合理性评分）、Applied Intuition Dana、Foxglove、Encord、Voxel51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Halos for Robotics、3Laws Supervisor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机器人检测认证联盟 CR-3-06（智元 2025-09 首张）、信通院（数据集质量标准 2026-11-01 实施）、CESI EIBench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 + 引擎 + 护照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具备     ◐  部分     ○  不具备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51480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NVIDIA 的关系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551383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Cosmos Evaluator 免费给生成数据打物理合理性分，但不签名、不形式化、绑定 NVIDIA 栈；Halos 做功能安全层（ANAB 认可实验室对接 TÜV、UL）。我们位于其上的任务语义层，国内整机厂需要不依赖 NVIDIA 的国产证据层。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7680" y="49834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51480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CR 认证 / 信通院的关系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551383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CR-3-06 是一次性审核加纸质证书，信通院评测是抽样 + 脚本；二者有公信力与渠道但无逐条机器可验的证据。策略：做其评价方法的技术底座与联合发证，护照成为「评价结果的可验证载体」。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046720" y="49834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47888" y="51480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与训练场 / 数采龙头的关系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47888" y="551383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国地中心、京东、智元都有内部「评 / 测」环节，自建质检是最主要的替代方案。我们的差异：中立签发、离线可复算、跨司法辖区映射（欧盟第 10 / 12 条 + GB/Z 218.1 + 数据集质量八维）。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来源：各公司公告与媒体报道（2025–26）；NVIDIA（2026-03、2026-06）；央广网（2025-09 CR 认证）；21 财经（2026-08-05）；定位为 AXIOMALITY 判断。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一个楔子，三级扩展：从项目费到年费，再到按台授权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以认证证据项目切入（客户今天就有预算），扩展到站内引擎年费，最终随整机出货按台收取护栏授权费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47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· 认证证据项目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13432"/>
            <a:ext cx="3163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护照按数据集 30–80 万元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审计包按发布 50–300 万元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买家：拟上市 / 出海整机厂、具身大脑公司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 ≈ 85%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33088" y="2651760"/>
            <a:ext cx="146304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7830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947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· 引擎站内部署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313432"/>
            <a:ext cx="3163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年费 50–200 万元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算力由客户承担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买家：国家级训练场、数据商、实训空间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 ≈ 70%；试点费在首年年费中抵扣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82128" y="2651760"/>
            <a:ext cx="146304" cy="0"/>
          </a:xfrm>
          <a:prstGeom prst="line">
            <a:avLst/>
          </a:prstGeom>
          <a:noFill/>
          <a:ln w="15875">
            <a:solidFill>
              <a:srgbClr val="C8123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46720" y="17830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94767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· 语义护栏按台授权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313432"/>
            <a:ext cx="3163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100–300 元 / 台 / 年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随底座与操作系统预装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买家：整机厂（按出货量）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 ≈ 90%；2029 年起增长最快的一条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852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005840"/>
                <a:gridCol w="118872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指标（模型值）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核验小时数（含站内部署）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其中自营核验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每小时全负担成本（自营）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245 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145 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 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付费客户数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护栏装机台数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公司混合毛利率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675120" y="379476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6288" y="3959352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客户扩展路径（净收入留存目标 &gt; 130%）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76288" y="4325112"/>
            <a:ext cx="45354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一家整机厂：先为一个数据集买护照（30–80 万）→ 训练团队把引擎装进站内（年费）→ 出货时护栏随底座预装（按台）。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年 800 万元基准的构成：认证证据 3 家（150–240 万）+ 引擎 2 家（200–400 万）+ 审计包 1 次发布（100–300 万）。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年 400 万小时中约 30 万小时自营（85 元 / 小时），其余在客户站内完成；护栏授权边际成本接近零。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来源：AXIOMALITY 单位经济模型；所有目标类指标均未签约。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市场三级：近期可核查、中期是品类、长期是物理 AI 的许可层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中国整机出货约 80% 集中于两家厂商，数据标准可以集中制定；所缺的是使数据可验证、可流通的一层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206240" cy="914400"/>
          </a:xfrm>
          <a:prstGeom prst="rect">
            <a:avLst/>
          </a:prstGeom>
          <a:solidFill>
            <a:srgbClr val="E9EBF2"/>
          </a:solidFill>
          <a:ln w="12700">
            <a:solidFill>
              <a:srgbClr val="E9EB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2026–28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可核查的收入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整机厂认证证据与入表、训练场基础设施、护栏首批授权：1.5–4 千万元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5029200" cy="914400"/>
          </a:xfrm>
          <a:prstGeom prst="rect">
            <a:avLst/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986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2029–30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898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品类：具身智能的核验与证据层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1729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汽车与航空中验证与确认占软件投入三到五成；芯片行业的形式化验证工具是独立品类。国内 2030 年数十万台出货，品类 15–30 亿元，两三家分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852160" cy="914400"/>
          </a:xfrm>
          <a:prstGeom prst="rect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92277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 2031 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9227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许可层：按台计费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19709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凡是 AI 驱动的物理设备都需要语义安全与证据；NVIDIA Halos 在西方的定位是「拥有安全标准即拥有监管护城河」，国内需要对等的一层</a:t>
            </a:r>
            <a:endParaRPr lang="en-US" sz="9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949440" y="1691640"/>
          <a:ext cx="21031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7607808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年中国人形出货集中度：宇树 + 智元近 80%（TrendForce 预测）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418320" y="1737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140+ 家 · 330+ 款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2176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中国整机企业与型号（2025，工信部）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418320" y="2514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万 → 6 万台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418320" y="29535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全球人形出货 2025 → 中国 2026 预测；2030 年 50 万台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418320" y="3291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9,700 / 5,900 台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418320" y="3730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上半年智元 / 宇树出货（Counterpoint）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41832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 → 231 亿美元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4507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具身智能市场 2025 → 2030（CAGR 39%）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49440" y="4160520"/>
            <a:ext cx="4663440" cy="1783080"/>
          </a:xfrm>
          <a:prstGeom prst="roundRect">
            <a:avLst>
              <a:gd name="adj" fmla="val 4103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150608" y="4325112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对我们的含义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150608" y="4690872"/>
            <a:ext cx="42611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本体集中于头部两家，数据格式与语义可集中统一，与头部整机厂对接即可覆盖多数真机数据；国家级训练场已积累 100 万+ 条真机数据，所缺为统一的核验与上架规范；数据资产化需要可校验的质量证据，否则无法入表、无法交易。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来源：MarketsandMarkets；工信部国新办发布会（2025）；TrendForce；Counterpoint（2026 H1）；SAG；国地中心；AXIOMALITY 测算。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为什么是现在：标准已发布、入表已施行、欧盟时钟已设定，窗口在 2027 年内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三股力量同时到位：供给侧原始数据归零、需求侧合成数据涌入训练、制度侧要求逐条可追溯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4415" cy="0"/>
          </a:xfrm>
          <a:prstGeom prst="line">
            <a:avLst/>
          </a:prstGeom>
          <a:noFill/>
          <a:ln w="19050">
            <a:solidFill>
              <a:srgbClr val="D5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8802" y="2249424"/>
            <a:ext cx="164592" cy="16459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9578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7866" y="251460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数据资产入表施行（财政部）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43719" y="2249424"/>
            <a:ext cx="164592" cy="16459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495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2024-11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212783" y="251460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可信数据空间行动计划（国家数据局）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28635" y="2249424"/>
            <a:ext cx="164592" cy="16459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79411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97699" y="251460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人形机器人与具身智能标准体系（2026 版）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13552" y="2249424"/>
            <a:ext cx="164592" cy="164592"/>
          </a:xfrm>
          <a:prstGeom prst="ellipse">
            <a:avLst/>
          </a:prstGeom>
          <a:solidFill>
            <a:srgbClr val="151A2D"/>
          </a:solidFill>
          <a:ln w="12700">
            <a:solidFill>
              <a:srgbClr val="151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28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82616" y="251460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YD/T 6770—2026 基准测试方法实施；实景实训专项行动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598468" y="2249424"/>
            <a:ext cx="164592" cy="164592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244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67532" y="251460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数据集质量要求及评价方法实施（GB/Z 218.1—2026）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83385" y="2249424"/>
            <a:ext cx="164592" cy="164592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161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2027-12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52449" y="251460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欧盟附录 III：独立高风险系统义务适用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768301" y="2249424"/>
            <a:ext cx="164592" cy="164592"/>
          </a:xfrm>
          <a:prstGeom prst="ellipse">
            <a:avLst/>
          </a:prstGeom>
          <a:solidFill>
            <a:srgbClr val="C8123F"/>
          </a:solidFill>
          <a:ln w="12700">
            <a:solidFill>
              <a:srgbClr val="C812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19077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2028-08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137365" y="251460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欧盟附录 I：嵌入机器人等产品的 AI 适用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58488" y="3429000"/>
            <a:ext cx="3474720" cy="292608"/>
          </a:xfrm>
          <a:prstGeom prst="roundRect">
            <a:avLst>
              <a:gd name="adj" fmla="val 156250"/>
            </a:avLst>
          </a:prstGeom>
          <a:solidFill>
            <a:srgbClr val="FBE7EC"/>
          </a:solidFill>
          <a:ln w="12700">
            <a:solidFill>
              <a:srgbClr val="FBE7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58488" y="3429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 2026-09 · 距附录 I 生效不足 23 个月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07008" y="414223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供给侧：原始数据归零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4507992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AI 免费开放约 100 万小时工厂视频；遥操作 50–200 美元 / 小时的价格没有护城河。仍有毛利的是语义、核验与认证。</a:t>
            </a:r>
            <a:endParaRPr lang="en-US" sz="10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0"/>
            <a:ext cx="329184" cy="329184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429768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956048" y="414223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需求侧：合成数据涌入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498848" y="4507992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Labs Atlas（2026-09）以手机视频批量生成机器人相机数据；国内 2026 上半年世界模型融资超百亿元。生成器越多，进入训练前的核验与来源比例记录越是必需。</a:t>
            </a:r>
            <a:endParaRPr lang="en-US" sz="10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114800"/>
            <a:ext cx="329184" cy="329184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804672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705088" y="414223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制度侧：逐条可追溯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8247888" y="4507992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GB/Z 218.1 规定了质量要求但未规定证据格式；YD/T 6770 的评测集隔离仍靠自证；入表与附录 I 都要求机器可校验的记录。证据格式尚无人定义。</a:t>
            </a:r>
            <a:endParaRPr lang="en-US" sz="10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14800"/>
            <a:ext cx="329184" cy="329184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42" name="Text 37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来源：财政部（2023）；国家数据局（2024）；新华社（2026-02-28）；全国信标委；工信部；欧盟委员会 / Gibson Dunn（Regulation (EU) 2026/1744）；36 氪、虎嗅（2026）。</a:t>
            </a:r>
            <a:endParaRPr lang="en-US" sz="800" dirty="0"/>
          </a:p>
        </p:txBody>
      </p:sp>
      <p:sp>
        <p:nvSpPr>
          <p:cNvPr id="43" name="Text 3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市场路径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三条渠道、一份首批客户清单、一个 8–12 周的付费试点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以实际护照促成合同：2026 年 12 月起，在保密协议下用合作伙伴自带数据生成真实护照，12 分钟演示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底座与操作系统公司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057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 API 嵌入底座与世界模型；护栏随操作系统预装，按台授权由渠道分发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89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四大与律所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3017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入表与审计项目由会计师事务所与律所带入；审计包经四大复核出具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训练场、认证机构与交易所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05156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北数所 2026-09 首发具身数据跨境流通平台：首批带护照数据集登记；与 CR 认证联盟 / 信通院联合发证；训练场存量数据以护照格式核验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783080"/>
          <a:ext cx="34290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548640"/>
                <a:gridCol w="914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首批目标客户（2026 Q4 – 2027）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切入产品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拟上市 / 出海人形与服务机器人整机厂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认证证据项目 → 护栏共同开发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国家级训练场与实训空间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引擎站内部署（存量数据核验）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数据商与数采工厂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护照按数据集；上架证据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具身大脑 / 世界模型公司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合成数据核验与来源比例记录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标准与认证机构（信通院 / CR 认证联盟）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1–2 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技术底座与联合发证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8229600" y="178308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151A2D"/>
          </a:solidFill>
          <a:ln w="6350">
            <a:solidFill>
              <a:srgbClr val="151A2D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430768" y="1947672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付费试点：8–12 周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8430768" y="2313432"/>
            <a:ext cx="298094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范围：一个任务族、一台本体、固定数据量与验收标准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费用：30–80 万元，在首年引擎年费中抵扣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盲测：同一批数据依次通过四档基线——客户现有脚本、几何规则、VLM + 规则、完整 Engine；专家真值独立建立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验收指标：严重错误误放率、好数据误拒率、未知比例、每千条复核工时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试点结果决定范围：否定结果预注册并保留，同样进入回流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49808" y="5056632"/>
            <a:ext cx="10692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核心指标：每季度完成认证的核验数据小时数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49808" y="5422392"/>
            <a:ext cx="1069207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每一条收入线都在这个数字的下游；它同时刻画供给（采集与核验吞吐）、需求（愿为护照付费的客户）与质量（能通过核验的轨迹）。2027 年目标：核验通过率 ≥ 85%、内核覆盖度 ≥ 95%、认证时长 &lt; 48 小时 / 千条。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来源：AXIOMALITY 试点方案（2026-09）；客户数量为目标，未签约。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已实现的是资产与关系，90 天内可验证的是三件事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三列分列，目标类指标均标注日期；正式路演前至少一家具名共同开发伙伴由「推进中」转为「已实现」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1F3F3"/>
          </a:solidFill>
          <a:ln w="6350">
            <a:solidFill>
              <a:srgbClr val="E1F3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377440"/>
            <a:ext cx="31638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知识内核：公理经机器证明一致，对齐 ISO/IEC 21838-4</a:t>
            </a:r>
            <a:endParaRPr lang="en-US" sz="9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万条实测三维数据包；房间级重建与物体级三维标注技术栈（9 项发明专利申请）</a:t>
            </a:r>
            <a:endParaRPr lang="en-US" sz="9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消费级空间应用已上线（Apple Vision Pro）；13 项授权专利</a:t>
            </a:r>
            <a:endParaRPr lang="en-US" sz="9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北京国际大数据交易所数据经纪商资质</a:t>
            </a:r>
            <a:endParaRPr lang="en-US" sz="9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合规与审计合作：国际律师事务所（条款映射）、四大会计师事务所（审计包复核）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5604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推进中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8848" y="2377440"/>
            <a:ext cx="31638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核验引擎最小版本（2026 Q4 内测）：接入 → 场景图 → SMT 校验 → 护照</a:t>
            </a:r>
            <a:endParaRPr lang="en-US" sz="9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家庭场景 Kernel v1；Engine 接入 LeRobot / RLDS / OpenUSD</a:t>
            </a:r>
            <a:endParaRPr lang="en-US" sz="9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与人形整机厂、底座与操作系统公司洽谈共同开发与渠道合作</a:t>
            </a:r>
            <a:endParaRPr lang="en-US" sz="9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强监管行业关系：跨国医疗器械与制药企业、国家标准机构、大型医院网络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46720" y="17830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705088" y="1947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天内可验证（承诺）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2024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47888" y="2377440"/>
            <a:ext cx="31638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公开盲测基准：在 DROID / AgiBot World 各 200 条轨迹上注入 7 类错误（错标、不可能关系、事件倒序、物体瞬移、时间扭曲、关节越限、夹爪–接触不一致），对比「规则 + VLM」基线，公布逐类查全率与每小时成本；第三方持有注入密钥</a:t>
            </a:r>
            <a:endParaRPr lang="en-US" sz="9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签下 1 家具名共同开发伙伴（整机厂或训练场），以其自带数据生成真实护照，并公开验证器、公钥与样例护照供任何人离线复验</a:t>
            </a:r>
            <a:endParaRPr lang="en-US" sz="9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Passport v1 字段对齐《具身智能数据集质量要求及评价方法》八维指标（2026-11-01 实施）与 CR-3-06，提交信通院或 CR 认证联盟之一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578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2468880"/>
                <a:gridCol w="2194560"/>
                <a:gridCol w="25877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有日期的目标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 Q1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 Q2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 年底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家共同开发伙伴；1 万条核验轨迹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Passport v1 获 1 家监管机构或标准组织认可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家付费客户、800 万元收入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附录 I 生效前交付审计包；3,000 万元收入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来源：AXIOMALITY 内部记录（可应要求提供）；目标为计划值，未签约。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团队：写过国际标准公理，证明过一致性，也做过 5,000 万美元收入的公司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本体与标准、AI 算法、感知与机器人、仿真与三维资产四条能力线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160520"/>
          </a:xfrm>
          <a:prstGeom prst="roundRect">
            <a:avLst>
              <a:gd name="adj" fmla="val 1758"/>
            </a:avLst>
          </a:prstGeom>
          <a:solidFill>
            <a:srgbClr val="151A2D"/>
          </a:solidFill>
          <a:ln w="6350">
            <a:solidFill>
              <a:srgbClr val="151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47672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 &amp; CEO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稀缺性一 · 标准：ISO/IEC 21838-4（TUpper 顶层本体）核心构建者，承担 35 项中 22 项；国际工业本体联盟成员；多伦多大学人工智能博士与研究员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稀缺性二 · 科学：形式化本体与知识表示、一阶逻辑公理体系的一致性证明与模型构造、可信神经符号 AI；21 篇 SCI / 顶会论文，FOIS 杰出论文奖，AAAI 特邀报告，1 部英文专著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稀缺性三 · 经营：跨境 DTC 平台创始团队成员，获 Accel 等美国头部风投 500 万美元天使投资，一年内年收入超 5,000 万美元，带领 100+ 人团队；联合创办推荐系统公司（多伦多大学与帝国理工孵化）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空间计算：创办空间计算公司，Apple Vision Pro 首批 AR 应用之一；13 项授权专利，2,400 万元专利转让、1,000 万元技术许可；主持 3 项国际科研项目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投资视角：曾在头部风险投资机构从事商业尽调与投资研究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93408" y="194767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CTO &amp; 首席科学家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693408" y="2313432"/>
            <a:ext cx="4718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麦克马斯特大学 AI 博士；曾任一线大厂 AI 算法科学家、创业公司首席科学家；深圳海外高层次人才；加拿大 AI 学术与工业应用大赛第一名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2852928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301752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感知与机器人负责人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93408" y="3383280"/>
            <a:ext cx="4718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哈尔滨工业大学机械电子工程博士；曾任小鹏汽车 AI 算法工程师、智能感知中心总监；论文 10 余篇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392277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3F4F8"/>
          </a:solidFill>
          <a:ln w="6350">
            <a:solidFill>
              <a:srgbClr val="F3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4087368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仿真与三维资产负责人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4453128"/>
            <a:ext cx="4718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年+ 游戏与舞台美术总监经验；主导 1750 年北京古城数字（VR）重建；中国国家画院特聘讲师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50292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BE7EC"/>
          </a:solidFill>
          <a:ln w="6350">
            <a:solidFill>
              <a:srgbClr val="FBE7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519379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本轮要补的三个人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93408" y="555955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训练过 VLA 策略的机器人学习科学家（负责核验与训练收益的实验）；在国地中心 / 信通院 / 智元体系交付过数据的中国产业侧联合创始人；面向整机厂与训练场的销售负责人。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财务与融资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财务：2030 年收入 2.2 亿元、毛利率 82%；本轮融资支撑 18 个月三项门槛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认证证据先行，经常性收入（护栏 + 引擎）于 2029 年超过按次的证据收入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5760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64592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 年情景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乐观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4,000 万元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 亿元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亿元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触发条件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护照未进入评价方法；仅证据与项目收入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附录 I 如期；护栏 30 万台；一家机构纳入护照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护照进入 CR 实施规则；护栏预装 80 万台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583680" y="178308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151A2D"/>
          </a:solidFill>
          <a:ln w="6350">
            <a:solidFill>
              <a:srgbClr val="151A2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84848" y="194767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本轮融资（Pre-A）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784848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C81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3,000–5,000 万元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784848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（金额为本次修订建议，按 25 人团队 18 个月运行与三项门槛测算；请创始团队确认）</a:t>
            </a:r>
            <a:endParaRPr lang="en-US" sz="9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4848" y="3200400"/>
          <a:ext cx="4617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029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资金用途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2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2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对应门槛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2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内核与引擎研发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 1：内核 v1 一致性证明发布；Engine 内测接入三种格式；3 家共同开发伙伴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首批客户交付与试点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 2：5 家付费客户、800 万元；1 家机构纳入护照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团队（机器人学习科学家、销售）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 3：审计包在附录 I 生效前交付；3,000 万元收入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标准、合规与审计合作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训练场试点、标准工作组席位、监管沙盒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784848" y="5532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投入方向是内核覆盖度而非采集规模：每 500 万元研发投入 → 覆盖度 +5 个百分点、核验成本 −40%。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  ·  Pre-A 路演稿  ·  2026 年 10 月  ·  保密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199632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说明：财务预测为示意；目标类指标未签约；融资金额与用途为修订建议。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AXIOMALITY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核验数据的证据格式，</a:t>
            </a:r>
            <a:endParaRPr lang="en-US" sz="3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将决定具身智能数据的计量与交易单位。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C9C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我们要做的，是让这个格式成为参考实现——内核规范公开、护照离线可验、审计包经会计师事务所复核、不持有客户数据、不训练自有基础模型。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343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4370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领投本轮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Pre-A，18 个月三项门槛，投入方向是内核覆盖度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4160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43434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4370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三个介绍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498848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一家拟上市 / 出海整机厂、一家国家级训练场、一家底座或操作系统公司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46720" y="4160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32A44"/>
          </a:solidFill>
          <a:ln w="12700">
            <a:solidFill>
              <a:srgbClr val="232A4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43434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32520" y="4370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一次验证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247888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D9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12 月起，以您被投企业的自带数据在保密协议下生成真实护照，12 分钟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2026 AXIOMALITY  ·  保密  ·  未经许可不得传播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AXIOMALITY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AXIOMALITY 红杉版路演稿</dc:title>
  <dc:subject/>
  <dc:creator>AXIOMALITY</dc:creator>
  <cp:lastModifiedBy>AXIOMALITY</cp:lastModifiedBy>
  <cp:revision>1</cp:revision>
  <dcterms:created xsi:type="dcterms:W3CDTF">2026-09-25T11:19:16Z</dcterms:created>
  <dcterms:modified xsi:type="dcterms:W3CDTF">2026-09-25T11:19:16Z</dcterms:modified>
</cp:coreProperties>
</file>